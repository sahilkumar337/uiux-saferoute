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131720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  <a:defRPr sz="1100" b="1" i="0">
                <a:solidFill>
                  <a:srgbClr val="8B5CF6"/>
                </a:solidFill>
                <a:latin typeface="Inter"/>
              </a:defRPr>
            </a:pPr>
            <a:r>
              <a:t>HUMAN-CENTERED DESIGN CASE STUDY &amp; PROTOTYPE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  <a:defRPr sz="3400" b="1" i="0">
                <a:solidFill>
                  <a:srgbClr val="FFFFFF"/>
                </a:solidFill>
                <a:latin typeface="Inter"/>
              </a:defRPr>
            </a:pPr>
            <a:r>
              <a:t>SafeRoute: Smart Personal Safety Navigation</a:t>
            </a:r>
          </a:p>
          <a:p>
            <a:pPr algn="l">
              <a:lnSpc>
                <a:spcPct val="120000"/>
              </a:lnSpc>
              <a:spcAft>
                <a:spcPts val="2400"/>
              </a:spcAft>
              <a:defRPr sz="1400" b="0" i="0">
                <a:solidFill>
                  <a:srgbClr val="C6CEDF"/>
                </a:solidFill>
                <a:latin typeface="Inter"/>
              </a:defRPr>
            </a:pPr>
            <a:r>
              <a:t>Re-Engineering Pedestrian Safety for Solo Night Travelers via Real-Time Lighting, Community Reporting &amp; Low-Friction Emergency SOS</a:t>
            </a:r>
          </a:p>
          <a:p>
            <a:pPr algn="l">
              <a:lnSpc>
                <a:spcPct val="120000"/>
              </a:lnSpc>
              <a:defRPr sz="1100" b="1" i="0">
                <a:solidFill>
                  <a:srgbClr val="FFC542"/>
                </a:solidFill>
                <a:latin typeface="Inter"/>
              </a:defRPr>
            </a:pPr>
            <a:r>
              <a:t>Course: PETV157 — UI/UX Design Project  |  Design Jury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 of 25  ·  Design Jury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EXECUTIVE SUMMARY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SafeRoute at a Glance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Bridging the Gap Between Speed and Pedestrian Security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FF3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FF3D5A"/>
                </a:solidFill>
                <a:latin typeface="Inter"/>
              </a:defRPr>
            </a:pPr>
            <a:r>
              <a:t>73%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Solo Female Travelers Anxious at Night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00D26A"/>
                </a:solidFill>
                <a:latin typeface="Inter"/>
              </a:defRPr>
            </a:pPr>
            <a:r>
              <a:t>94%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Target Route Safety Score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FFC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FFC542"/>
                </a:solidFill>
                <a:latin typeface="Inter"/>
              </a:defRPr>
            </a:pPr>
            <a:r>
              <a:t>3s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SOS Emergency Cancellation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5B8DEF"/>
                </a:solidFill>
                <a:latin typeface="Inter"/>
              </a:defRPr>
            </a:pPr>
            <a:r>
              <a:t>5/5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HCD Framework Checkpoints Validated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5394960" cy="32004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Core Innovation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Safety-Weighted Routing: Prioritizes streetlight coverage, open stores, and footfall density over raw travel speed.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Low-Friction SOS Trigger: 1-tap emergency dispatch with 3-second accidental trigger prevention.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Live Community Hazard Reporting: Crowdsourced map pins for dim alleys, unlit corridors, and suspicious activity.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Zero-Distraction Dark UI: High-contrast AMOLED-optimized interface built for night readability.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86400" cy="32004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HCD Process Scope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Phase 1 Discover: Quantitative survey (N=22) + Qualitative 1-on-1 interviews (N=6).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Phase 2 Define: Dual User Personas (Elena &amp; Rahul), 4-cluster Affinity Map, 6-panel Storyboard.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Phase 3 Ideate: SCAMPER matrix, Concept Sketches, Information Architecture &amp; Task Flow.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Phase 4 Design: Lo-Fi paper sketches ➔ Mid-Fi greyscale wireframes ➔ Hi-Fi Tokenized UI System.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Phase 5 Test: 3 testing rounds across 8 participants with individual tester feedback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 of 25  ·  Design Jury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5B8DEF"/>
                </a:solidFill>
                <a:latin typeface="Inter"/>
              </a:defRPr>
            </a:pPr>
            <a:r>
              <a:t>PHASE 1 · DISCOVER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The Darkness Trap: Speed vs. Safety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Why Conventional Navigation Apps Fail Pedestrians at Night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The Fundamental Navigation Flaw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Shortest Path Fallacy: Standard navigation algorithms optimize strictly for minimum distance or time.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Blind to Environmental Risk: Algorithms route pedestrians through unlit back alleys, unmonitored parks, and zero-footfall zones.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High Nighttime Anxiety: 73% of women and solo travelers experience acute anxiety walking home after dark.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Manual Workarounds: Users resort to fake phone calls, share raw locations manually, or run through dark spots.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219456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00D26A"/>
                </a:solidFill>
                <a:latin typeface="Inter"/>
              </a:defRPr>
            </a:pPr>
            <a:r>
              <a:t>86% of Pedestrians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Prefer a 5-10 minute longer walk if the route is well-lit and monitored by active businesses.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794760"/>
            <a:ext cx="5486400" cy="242316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FFC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FFC542"/>
                </a:solidFill>
                <a:latin typeface="Inter"/>
              </a:defRPr>
            </a:pPr>
            <a:r>
              <a:t>Zero Safety Context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Existing GPS apps do not factor streetlights, CCTV coverage, or community hazard reports into route 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3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5B8DEF"/>
                </a:solidFill>
                <a:latin typeface="Inter"/>
              </a:defRPr>
            </a:pPr>
            <a:r>
              <a:t>PHASE 1 · DISCOVER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Competitor &amp; Gap Analysis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Evaluating Existing Solutions Against Pedestrian Safety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Google Maps / Apple Maps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World-class mapping data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Accurate ETA predictions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Zero streetlight intelligence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Routes users through dark shortcuts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No integrated emergency 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Standalone SOS Apps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Direct panic button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Location sharing to contacts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No turn-by-turn navigation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Reacts to danger rather than preventing it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✗ High rate of false alarm triggers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SafeRoute (Our Solution)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Safety-Score Routing Algorithm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Streetlight &amp; CCTV Heatmaps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Live Community Hazard Pins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Integrated 3-Second SOS Trigger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✓ Complete End-to-End Prevention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4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5B8DEF"/>
                </a:solidFill>
                <a:latin typeface="Inter"/>
              </a:defRPr>
            </a:pPr>
            <a:r>
              <a:t>PHASE 1 · DISCOVER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Primary User Research Setup &amp; Methodology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Quantitative Survey (N=22) &amp; Qualitative In-Depth Interviews (N=6)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Research Methodology &amp; Target Sample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Target Demographics: Urban pedestrians aged 18–34, college students, late-shift workers, and solo night commuters.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Quantitative Online Survey (N=22): 15 structured questions assessing night travel frequency, fear triggers, and navigation habits.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Qualitative One-on-One Interviews (N=6): 45-minute semi-structured interviews exploring emotional states during dark walks.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Key Finding 1: 81.8% experience elevated heart rate when entering poorly lit streets.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Key Finding 2: 90.9% check their phone battery before leaving late-night locations.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219456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8B5CF6"/>
                </a:solidFill>
                <a:latin typeface="Inter"/>
              </a:defRPr>
            </a:pPr>
            <a:r>
              <a:t>Sample Size: N = 22 Survey + 6 Interviews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Cross-section of university students &amp; night-shift tech workers in metro areas.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794760"/>
            <a:ext cx="5486400" cy="242316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00D26A"/>
                </a:solidFill>
                <a:latin typeface="Inter"/>
              </a:defRPr>
            </a:pPr>
            <a:r>
              <a:t>Primary User Need Identified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Users demand proactive environmental risk avoidance over reactive emergency calls after trouble occurs.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5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5B8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5B8DEF"/>
                </a:solidFill>
                <a:latin typeface="Inter"/>
              </a:defRPr>
            </a:pPr>
            <a:r>
              <a:t>PHASE 1 · DISCOVER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Categorized User Research Questions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Structuring User Inquiries into Need-Based, Task-Based &amp; Value-Based Domains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Need-Based Questions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"What specific environmental factors make a street feel unsafe at night?"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"How do you evaluate whether to take a dark shortcut versus a longer main street?"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"What information would give you immediate reassurance while walking alone?"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Task-Based Questions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"What exact steps do you take when you feel followed or sense danger?"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"How do you currently notify trusted contacts about your ETA during night trips?"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"How difficult is it to unlock your phone and trigger an emergency alert under panic?"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Value-Based Questions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"Would you accept a 5 to 10 minute longer walk if guaranteed 95%+ lighting coverage?"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"How much trust do you place in crowdsourced safety reports from other users?"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"What features would make you choose a safety app over Google Maps?"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6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Primary Persona: Elena Rivera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22 Years Old · University Student · Frequent Solo Night Commuter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Demographics &amp; Bio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Role: Senior Undergraduate Student &amp; Campus Library Assistant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Location: Urban Campus Housing (Walks home between 9 PM - 11:30 PM)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Tech Comfort: High (Uses smartphone for all daily routines &amp; navigation)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Quote: "I constantly take the longer main road because Google Maps always tries to send me down pitch-black side streets."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94760"/>
            <a:ext cx="5394960" cy="24231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Frustrations &amp; Pain Points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Maps route her through unlit residential lanes with zero footfall.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Uncertainty about streetlight functionality creates constant vigilance anxiety.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Manual location sharing via messaging apps is tedious and easily forgotten.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User Goals &amp; Desires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Clear Visual Safety Scoring: Wants to see at a glance why a route is safe (lighted streets, CCTV, open stores).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Automated Contact Tracking: Automatically notify roommates when starting &amp; finishing late walks.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Immediate SOS Safeguard: Instant access to emergency dispatch without navigating complex menus under stress.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4. Community Hazard Alerts: Real-time warnings if a street lamp is out or suspicious activity was reported.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7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Secondary Persona: Rahul Verma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27 Years Old · Night-Shift Tech Support &amp; Delivery Worker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Demographics &amp; Bio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Role: IT Support Specialist &amp; Part-Time Evening Courier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Location: Suburban Metro Area (Navigates between 11 PM - 4 AM)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Tech Comfort: Moderate (Requires fast, simple, one-handed UI actions)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Quote: "When I finish my shift at 3 AM, I need to know which roads have active gas stations and open stores if I need help."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94760"/>
            <a:ext cx="5394960" cy="24231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Frustrations &amp; Pain Points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Navigating industrial zones with sparse lighting and non-existent pedestrian paths.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Cannot afford to waste phone battery on complex background apps.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Fears breakdown or isolation in areas without public transport or open businesses.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User Goals &amp; Desires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One-Handed Quick Controls: Needs large, accessible buttons while carrying gear or walking quickly.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Live Business &amp; CCTV Markers: Wants reassurance that active, open commercial hubs line his path.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Low-Battery Dark Mode: High-contrast interface that preserves battery during extended late-night shifts.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4. Instant Hazard Pin Dropping: Ability to report broken streetlights or road obstructions in 1 tap.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8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Affinity Mapping &amp; Research Synthesis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Categorizing 45+ Qualitative Insights into 4 Core Thematic Clusters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Cluster 1: Lighting &amp; Environmental Anxiety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"Dark alleys are an instant deal-breaker, even if it saves 15 minutes."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"If I can see 100 meters ahead under bright streetlights, my anxiety drops to zero."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Synthesis: Streetlight coverage is the #1 weighting factor for pedestrian safety.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Cluster 2: Route Decision Factors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"I will happily walk 10 minutes longer along main commercial avenues."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"CCTV cameras and open convenience stores give me immense peace of mind."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Synthesis: Users trade extra time for verified environmental security markers.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5394960" cy="237744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Cluster 3: Emergency Friction &amp; Panic States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"Unlocking my phone and searching for contacts under panic is impossible."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"I want a 3-second buffer in case I accidentally press the emergency button."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Synthesis: SOS mechanisms must be 1-tap, prominent, and include abort windows.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840480"/>
            <a:ext cx="5486400" cy="237744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Cluster 4: Reassurance &amp; Social Proof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"Knowing other students walked this route 10 minutes ago makes me feel safe."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"Automated live location updates to my family save me from typing messages."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Synthesis: Crowdsourced activity and live tracking build psychological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9 of 25  ·  Design Jury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Empathy Map: Understanding User Mindset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Synthesizing What Solo Night Pedestrians Think, Feel, Say, Hear, and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THINKS &amp; FEELS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"Is someone walking behind me in the shadows?"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Feels hyper-vigilant, anxious, and vulnerable in dark corridors.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Desires continuous reassurance and verified safe pathways.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SAYS &amp; DOES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Holds keys between fingers as a self-defense mechanism.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Pretends to be on a call or quickens pace near unlit corners.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Says: "Text me when you get home safely!"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5394960" cy="237744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HEARS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Footsteps behind them, distant noises, dark alley echoes.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News reports of nighttime incidents in local urban areas.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Advice from family: "Don't take shortcuts after midnight!"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840480"/>
            <a:ext cx="5486400" cy="237744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PAINS &amp; GAINS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PAIN: Lack of visibility, unexpected dark dead-ends, helpless panic.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GAIN: Confident night navigation, 1-tap SOS, automated contact tracking.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10 of 25  ·  Design Jury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User Journey Map: The Walk Home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Mapping the Emotional Arc from Night Departure to Safe Arrival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1. Departure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10:45 PM at Library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High energy, mild anticipation of dark walk.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59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2. Route Search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Opens standard GPS app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App suggests dark 18-min shortcut. Anxiety rises.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3. SafeRoute Launch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Selects 94% Safe Corridor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Sees lit streets &amp; CCTV markers. Reassurance.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4. Active Walk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Navigating lit avenues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Monitored path. Live location shared with roommate.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5. Hazard Encountered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Approaches dim alley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App alerts: "Dim Alley Ahead". Reroutes safely.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6. Safe Arrival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Arrives at Apartment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Confirmation toast sent. Anxiety drops to zero.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11 of 25  ·  Design Jury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8B5CF6"/>
                </a:solidFill>
                <a:latin typeface="Inter"/>
              </a:defRPr>
            </a:pPr>
            <a:r>
              <a:t>PHASE 2 · DEFINE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6-Panel Visual Storyboard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"How SafeRoute Protects Solo Night Travelers" — Scenario Walkthrough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Panel 1: Late Departure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Elena leaves campus library at 11:00 PM. The streets look quiet and dark.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59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Panel 2: Route Selection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Opens SafeRoute. Compares 94% Safe Lit Route (34m) vs 38% Unsafe Shortcuts (27m).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37160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Panel 3: Safe Navigation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Walks confidently along illuminated avenues with verified CCTV coverage markers.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Panel 4: Hazard Warning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App alerts: "Dim Alley Ahead". Automatically reroutes along active commercial stores.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Panel 5: 3s SOS Safeguard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Senses suspicious activity. Holds SOS ring — 3s countdown activates live tracking.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840480"/>
            <a:ext cx="3566160" cy="22860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Panel 6: Safe Arrival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Reaches dorm safely. Roommate receives automated arrival confirmation toast.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12 of 25  ·  Design Jury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C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C542"/>
                </a:solidFill>
                <a:latin typeface="Inter"/>
              </a:defRPr>
            </a:pPr>
            <a:r>
              <a:t>PHASE 3 · IDEATE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Brainstorming &amp; How Might We (HMW)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Translating User Insights into Actionable Design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How Might We (HMW) Statements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HMW 1: How might we calculate route safety using objective environmental data (streetlights, CCTV, footfall) rather than just distance?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HMW 2: How might we enable zero-friction emergency SOS triggers that prevent false alarms during panic states?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HMW 3: How might we crowdsource real-time hazard reports (broken lights, dark alleys) without overwhelming the navigation UI?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HMW 4: How might we provide continuous psychological reassurance to solo night commuters without causing notification fatigue?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Top Ideated Solutions Selected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Safety Score Algorithm (0-100%): Dynamic scoring weighing streetlights (40%), footfall (30%), CCTV (20%), and community pins (10%).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3-Second Hold SOS Trigger: Requires intentional 3-second hold with haptic feedback to eliminate accidental pocket dials.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1-Tap Hazard Pin Drop: Quick-reporting modal to mark broken streetlights or unmonitored zones instantly.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4. Live Contact Dispatch: Auto-send GPS coordinates &amp; battery level to trusted emergency contacts.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13 of 25  ·  Design Jury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C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C542"/>
                </a:solidFill>
                <a:latin typeface="Inter"/>
              </a:defRPr>
            </a:pPr>
            <a:r>
              <a:t>PHASE 3 · IDEATE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SCAMPER Technique Ideation Matrix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Systematic Feature Innovation Across 7 SCAMPER Dimensions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10515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Substitute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Substitute shortest distance algorithms with safety-weighted lighting &amp; footfall corridor paths.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0320"/>
            <a:ext cx="5394960" cy="10515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Combine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Combine turn-by-turn map navigation with instant 1-tap SOS panic dispatch and live location sharing.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394960" cy="10515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Adapt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Adapt crowdsourced traffic reporting to community safety hazard pins (broken lights, dark alleys).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5394960" cy="105156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Modify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Modify standard map UI to feature high-contrast dark mode with bold color-coded safety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3716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Put to Another Use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Use phone gyroscope &amp; hold gestures for instant silent emergency activation during panic.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26080"/>
            <a:ext cx="5486400" cy="13716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Eliminate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Eliminate complex menus, ads, and multi-step dialogs during active emergency and navigation modes.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80560"/>
            <a:ext cx="5486400" cy="13716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Reverse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Reverse traditional navigation hierarchy: Safety Percentage FIRST, Travel Time SECOND.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14 of 25  ·  Design Jury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C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C542"/>
                </a:solidFill>
                <a:latin typeface="Inter"/>
              </a:defRPr>
            </a:pPr>
            <a:r>
              <a:t>PHASE 3 · IDEATE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Raw Concept Sketches &amp; Layout Ideation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Early Structural Explorations of Key Interface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Route Card Layout Explorations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Sketch Focus: Comparison between Safe vs Unsafe routes.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Key Decisions: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Placed Safety Score badge (94%) at top left of route card.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Added clear icon tags for Lit Streets, CCTV, and Open Stores.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Highlighted travel time difference (34m vs 27m).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SOS Button &amp; Hold Gesture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Sketch Focus: Preventing accidental emergency triggers.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Key Decisions: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Circular central button with radial pulsing ring.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Requires 3-second hold to fill progress circle.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Includes prominent 3s countdown with "Cancel SOS" abort button.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Hazard Report Popover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Sketch Focus: 1-tap community hazard logging.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Key Decisions: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Grid of 4 quick hazard chips: Dim Light, Suspicious Activity, Blocked Path, Quiet Area.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Auto-attaches user's current GPS coordinate.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Instant submission toast notification.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15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C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C542"/>
                </a:solidFill>
                <a:latin typeface="Inter"/>
              </a:defRPr>
            </a:pPr>
            <a:r>
              <a:t>PHASE 3 · IDEATE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App Architecture &amp; Information Architecture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Component Hierarchy &amp; Data Flow of the SafeRoute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15568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System Architecture Tree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App Root (React Container)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├── 1. Route Selection Screen (Dashboard)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Map View (Leaflet + CartoDB Dark Tiles + Route Polylines)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Destination Search &amp; Preset Bar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└── Route Option Cards (SafeRoute 94% vs Shortest 38%)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├── 2. Active Navigation Screen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Turn-by-Turn HUD &amp; ETA Counter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Live Streetlight &amp; CCTV Safety Corridor Overlay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└── Bottom Control Bar (Report Hazard, SOS Trigger, Share Live Location)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├── 3. SOS Emergency System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3-Second Hold Activation Ring &amp; Haptic Feedback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├── Abort Countdown Modal (Cancel SOS)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│   └── Contact Dispatcher (Auto SMS + Live GPS Coordinates)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└── 4. Community Hazard Reporting Modal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 ├── Hazard Type Selector Chips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 └── Real-Time Map Pin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16 of 25  ·  Design Jury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C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C542"/>
                </a:solidFill>
                <a:latin typeface="Inter"/>
              </a:defRPr>
            </a:pPr>
            <a:r>
              <a:t>PHASE 3 · IDEATE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Dedicated User Flow &amp; Emergency Task Flow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Mapping Primary Navigation Path and Critical Emergency Task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Primary Navigation User Flow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1: Open App ➔ Auto-detect current location &amp; set destination (Campus Dorm).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2: Compare Routes ➔ Evaluate SafeRoute (94% Safe, 34m) vs Shortest (38% Safe, 27m).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3: Start Safe Navigation ➔ Launch turn-by-turn HUD along lit corridor.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4: Monitored Guidance ➔ Receive real-time lighting &amp; CCTV reassurance markers.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5: Destination Reached ➔ Safe arrival toast dispatched to trusted contacts.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Critical Emergency Task Flow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1: Danger Sensed ➔ User taps or holds central red SOS button.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2: 3-Second Countdown ➔ Pulsing radial progress ring activates with haptics.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3: Abort Check ➔ User can tap "Cancel SOS" within 3 seconds if accidental.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4: Emergency Dispatch ➔ Auto-sends SMS alert + live GPS link to 3 trusted contacts.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Step 5: High-Volume Alarm ➔ Loud siren &amp; flashing screen activate to deter attacker.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17 of 25  ·  Design Jury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PHASE 4 ·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Wireframe Evolution: Lo-Fi ➔ Mid-Fi ➔ Hi-Fi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Iterative Progression from Paper Layouts to Tokenized High-Fidelity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1. Low-Fidelity Paper Wireframes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Hand-sketched layouts focusing on spatial structure and thumb ergonomics.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Tested key placement of SOS button at bottom center for fast 1-hand access.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Established split view between top map and bottom route decision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2. Mid-Fidelity Digital Layouts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Greyscale digital wireframes in Figma to refine visual hierarchy &amp; spacing.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Defined typography scale (Inter font family) and card padding standards.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Structured navigation HUD and hazard reporting modal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6616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3. High-Fidelity Prototype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Fully tokenized dark design system (#0B0E14 background) with semantic color coding.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Integrated real interactive Leaflet maps with CartoDB dark tiles.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Implemented live route polylines, Haversine distance calculations, and state management.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18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PHASE 4 ·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Design System Tokens &amp; Color Semantics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Dark UI Palette, Typography Hierarchy &amp; Component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Color Tokens &amp; Semantics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Background Dark (#0B0E14, #131720, #1C2130): Reduces night glare &amp; battery drain.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Safety Green (#00D26A): Denotes 90%+ safe corridors, lit streets, and safe arrival.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SOS Red (#FF3D5A): Reserved strictly for emergency triggers, hazards, &amp; unsafe routes.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Warning Amber (#FFC542): Indicates dim alleys, cautious areas, &amp; community reports.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371600"/>
            <a:ext cx="5486400" cy="23317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Typography &amp; Iconography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Font Family: Inter (Google Font) — optimized for small screen legibility.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Scale: Display 32px, Section Title 20px, Card Title 14px, Body 12px, Tag 10px.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Icon System: Lucide React (Shield, Navigation, AlertTriangle, Phone, Share2).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11155680" cy="237744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Component UI Standards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Cards &amp; Containers: Glassmorphism panels with 1px solid border (#2A3347) and 16px border-radius.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Interactive Buttons: Minimum 48px touch target size for reliable one-handed operation.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• Map Polylines: Green solid line (SafeRoute) vs Red dashed line (Shortest Unsafe Route).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19 of 25  ·  Design Jury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PHASE 4 ·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Screen 1: Route Selection &amp; Safety Scoring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Comparing Safety-Scored Lit Routes vs Shortest Unsafe Shortcuts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12648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Key Interface Features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Destination Search &amp; Preset Bar: Quick-select preset destinations like "Campus Apartment (Dorm)".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Interactive Dark Map: CartoDB dark tiles displaying green safe polylines and red unsafe polylines.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SafeRoute Card (94% Safe · 34 min · 2.8 km): Highlights illuminated streets, active CCTV, and open stores.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4. Shortest Route Card (38% Safe · 27 min · 2.2 km): Clear warning badge indicating dim alleys and low footfall.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5. Prominent CTA: "Start Safe Navigation" button initiates turn-by-turn guidance.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71600"/>
            <a:ext cx="2103120" cy="4297680"/>
          </a:xfrm>
          <a:prstGeom prst="roundRect">
            <a:avLst/>
          </a:prstGeom>
          <a:solidFill>
            <a:srgbClr val="131720"/>
          </a:solidFill>
          <a:ln w="254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84464" y="1426464"/>
            <a:ext cx="1993391" cy="41879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FFC5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2880360"/>
            <a:ext cx="1920239" cy="12801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ctr">
              <a:lnSpc>
                <a:spcPct val="120000"/>
              </a:lnSpc>
              <a:defRPr sz="800" b="1" i="0">
                <a:solidFill>
                  <a:srgbClr val="FFC542"/>
                </a:solidFill>
                <a:latin typeface="Inter"/>
              </a:defRPr>
            </a:pPr>
            <a:r>
              <a:t>PROTOTYPE SCREEN</a:t>
            </a:r>
          </a:p>
          <a:p>
            <a:pPr algn="ctr">
              <a:lnSpc>
                <a:spcPct val="120000"/>
              </a:lnSpc>
              <a:defRPr sz="1000" b="1" i="0">
                <a:solidFill>
                  <a:srgbClr val="FFFFFF"/>
                </a:solidFill>
                <a:latin typeface="Inter"/>
              </a:defRPr>
            </a:pPr>
            <a:r>
              <a:t>Route Selection Screen</a:t>
            </a:r>
          </a:p>
          <a:p>
            <a:pPr algn="ctr">
              <a:lnSpc>
                <a:spcPct val="120000"/>
              </a:lnSpc>
              <a:defRPr sz="850" b="0" i="0">
                <a:solidFill>
                  <a:srgbClr val="6B7A99"/>
                </a:solidFill>
                <a:latin typeface="Inter"/>
              </a:defRPr>
            </a:pPr>
            <a:r>
              <a:t>Interactive 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20 of 25  ·  Design Jury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PHASE 4 ·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Screen 2: Active Navigation &amp; Safety HUD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Turn-by-Turn Guidance with Live Streetlight &amp; CCTV Reassurance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12648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Key Interface Features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Turn-by-Turn Header HUD: Displays current maneuver ("Turn right on Cedar Ave") and remaining distance.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Safety Corridor Indicator: Prominent green badge showing "94% Safety Corridor" active.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Quick Control Bar (Bottom):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⚠ Report Hazard: Opens 1-tap modal to log broken lights or suspicious activity.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🚨 SOS Button: Central red pulsing trigger for immediate emergency activation.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↗ Share Location: Sends live tracking link &amp; battery level to trusted contacts.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71600"/>
            <a:ext cx="2103120" cy="4297680"/>
          </a:xfrm>
          <a:prstGeom prst="roundRect">
            <a:avLst/>
          </a:prstGeom>
          <a:solidFill>
            <a:srgbClr val="131720"/>
          </a:solidFill>
          <a:ln w="254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84464" y="1426464"/>
            <a:ext cx="1993391" cy="41879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FFC5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2880360"/>
            <a:ext cx="1920239" cy="12801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ctr">
              <a:lnSpc>
                <a:spcPct val="120000"/>
              </a:lnSpc>
              <a:defRPr sz="800" b="1" i="0">
                <a:solidFill>
                  <a:srgbClr val="FFC542"/>
                </a:solidFill>
                <a:latin typeface="Inter"/>
              </a:defRPr>
            </a:pPr>
            <a:r>
              <a:t>PROTOTYPE SCREEN</a:t>
            </a:r>
          </a:p>
          <a:p>
            <a:pPr algn="ctr">
              <a:lnSpc>
                <a:spcPct val="120000"/>
              </a:lnSpc>
              <a:defRPr sz="1000" b="1" i="0">
                <a:solidFill>
                  <a:srgbClr val="FFFFFF"/>
                </a:solidFill>
                <a:latin typeface="Inter"/>
              </a:defRPr>
            </a:pPr>
            <a:r>
              <a:t>Active Navigation Screen</a:t>
            </a:r>
          </a:p>
          <a:p>
            <a:pPr algn="ctr">
              <a:lnSpc>
                <a:spcPct val="120000"/>
              </a:lnSpc>
              <a:defRPr sz="850" b="0" i="0">
                <a:solidFill>
                  <a:srgbClr val="6B7A99"/>
                </a:solidFill>
                <a:latin typeface="Inter"/>
              </a:defRPr>
            </a:pPr>
            <a:r>
              <a:t>Interactive 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21 of 25  ·  Design Jury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PHASE 4 ·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Screen 3: SOS Emergency System &amp; Alert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3-Second Countdown Window with Automated Contact Dispatch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126480" cy="484632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3D5A"/>
                </a:solidFill>
                <a:latin typeface="Inter"/>
              </a:defRPr>
            </a:pPr>
            <a:r>
              <a:t>Key Interface Features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1. Radial Pulsing SOS Ring: Visual and haptic feedback during 3-second hold gesture.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2. Accidental Trigger Safeguard: 3-second countdown window allows instant cancellation if triggered by mistake.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3. Emergency Dispatcher Action: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Sends automated SMS with exact GPS coordinates to 3 pre-configured contacts.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Triggers high-volume audio alarm and flashing strobe screen to deter threats.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   • Displays direct 1-tap call button for local emergency services (911/112).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71600"/>
            <a:ext cx="2103120" cy="4297680"/>
          </a:xfrm>
          <a:prstGeom prst="roundRect">
            <a:avLst/>
          </a:prstGeom>
          <a:solidFill>
            <a:srgbClr val="131720"/>
          </a:solidFill>
          <a:ln w="254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84464" y="1426464"/>
            <a:ext cx="1993391" cy="41879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FFC5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2880360"/>
            <a:ext cx="1920239" cy="12801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ctr">
              <a:lnSpc>
                <a:spcPct val="120000"/>
              </a:lnSpc>
              <a:defRPr sz="800" b="1" i="0">
                <a:solidFill>
                  <a:srgbClr val="FFC542"/>
                </a:solidFill>
                <a:latin typeface="Inter"/>
              </a:defRPr>
            </a:pPr>
            <a:r>
              <a:t>PROTOTYPE SCREEN</a:t>
            </a:r>
          </a:p>
          <a:p>
            <a:pPr algn="ctr">
              <a:lnSpc>
                <a:spcPct val="120000"/>
              </a:lnSpc>
              <a:defRPr sz="1000" b="1" i="0">
                <a:solidFill>
                  <a:srgbClr val="FFFFFF"/>
                </a:solidFill>
                <a:latin typeface="Inter"/>
              </a:defRPr>
            </a:pPr>
            <a:r>
              <a:t>SOS Emergency Screen</a:t>
            </a:r>
          </a:p>
          <a:p>
            <a:pPr algn="ctr">
              <a:lnSpc>
                <a:spcPct val="120000"/>
              </a:lnSpc>
              <a:defRPr sz="850" b="0" i="0">
                <a:solidFill>
                  <a:srgbClr val="6B7A99"/>
                </a:solidFill>
                <a:latin typeface="Inter"/>
              </a:defRPr>
            </a:pPr>
            <a:r>
              <a:t>Interactive 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22 of 25  ·  Design Jury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3D5A"/>
                </a:solidFill>
                <a:latin typeface="Inter"/>
              </a:defRPr>
            </a:pPr>
            <a:r>
              <a:t>PHASE 5 · TEST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Usability Testing Setup &amp; Key Findings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3 Iterative Test Rounds Across 8 Participants (100% Task Completion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5B8DEF"/>
                </a:solidFill>
                <a:latin typeface="Inter"/>
              </a:defRPr>
            </a:pPr>
            <a:r>
              <a:t>8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Total Testing Participants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8B5CF6"/>
                </a:solidFill>
                <a:latin typeface="Inter"/>
              </a:defRPr>
            </a:pPr>
            <a:r>
              <a:t>3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Iterative Test Rounds Conducted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00D26A"/>
                </a:solidFill>
                <a:latin typeface="Inter"/>
              </a:defRPr>
            </a:pPr>
            <a:r>
              <a:t>100%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Task Completion Success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371600"/>
            <a:ext cx="2651760" cy="1371600"/>
          </a:xfrm>
          <a:prstGeom prst="roundRect">
            <a:avLst/>
          </a:prstGeom>
          <a:solidFill>
            <a:srgbClr val="1C2130"/>
          </a:solidFill>
          <a:ln w="15240">
            <a:solidFill>
              <a:srgbClr val="FFC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ctr">
              <a:spcAft>
                <a:spcPts val="400"/>
              </a:spcAft>
              <a:defRPr sz="3200" b="1">
                <a:solidFill>
                  <a:srgbClr val="FFC542"/>
                </a:solidFill>
                <a:latin typeface="Inter"/>
              </a:defRPr>
            </a:pPr>
            <a:r>
              <a:t>4.8/5</a:t>
            </a:r>
          </a:p>
          <a:p>
            <a:pPr algn="ctr">
              <a:lnSpc>
                <a:spcPct val="115000"/>
              </a:lnSpc>
              <a:defRPr sz="900">
                <a:solidFill>
                  <a:srgbClr val="6B7A99"/>
                </a:solidFill>
                <a:latin typeface="Inter"/>
              </a:defRPr>
            </a:pPr>
            <a:r>
              <a:t>Overall User Satisfaction Rating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5394960" cy="32004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Testing Methodology &amp; Tasks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Task 1: Search destination and select the safest illuminated route over the shortest route.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Task 2: Navigate along the route and report a simulated broken streetlight hazard.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Task 3: Trigger the emergency SOS and test the 3-second abort cancellation button.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86400" cy="3200400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Key Iterations Implemented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Iteration 1: Added 3-second abort countdown to SOS button after 2 users reported accidental trigger fears.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Iteration 2: Made route safety percentage (94%) larger and color-coded green for instant readability.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050">
                <a:solidFill>
                  <a:srgbClr val="C6CEDF"/>
                </a:solidFill>
                <a:latin typeface="Inter"/>
              </a:defRPr>
            </a:pPr>
            <a:r>
              <a:t>•  Iteration 3: Added 1-tap hazard reporting modal directly onto the active navigation screen.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23 of 25  ·  Design Jury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FF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FF3D5A"/>
                </a:solidFill>
                <a:latin typeface="Inter"/>
              </a:defRPr>
            </a:pPr>
            <a:r>
              <a:t>PHASE 5 · TEST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Individual Tester Feedback Matrix (T1 - T5)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Logging Specific Quotes, Liked Features, and Suggested Improvements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183112" cy="896112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T1 (Elena, Student)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Quote: "The 3-second SOS countdown gives me complete confidence I won't accidental dial."  |  Liked Most: 3s SOS Abort Ring  |  Suggestion Implemented: Make Cancel button larger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9152"/>
            <a:ext cx="11183112" cy="896112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FFC542"/>
                </a:solidFill>
                <a:latin typeface="Inter"/>
              </a:defRPr>
            </a:pPr>
            <a:r>
              <a:t>T2 (Rahul, IT Night Worker)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Quote: "I need to report dim lights in 1 tap without stopping my walk."  |  Liked Most: 1-Tap Hazard Chips  |  Suggestion Implemented: Add open store markers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6704"/>
            <a:ext cx="11183112" cy="896112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5B8DEF"/>
                </a:solidFill>
                <a:latin typeface="Inter"/>
              </a:defRPr>
            </a:pPr>
            <a:r>
              <a:t>T3 (Priya, Campus Resident)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Quote: "Seeing the 94% safety percentage score makes picking the lit path obvious."  |  Liked Most: Safety Score Badge  |  Suggestion Implemented: Show CCTV icon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34256"/>
            <a:ext cx="11183112" cy="896112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8B5CF6"/>
                </a:solidFill>
                <a:latin typeface="Inter"/>
              </a:defRPr>
            </a:pPr>
            <a:r>
              <a:t>T4 (Ankit, Solo Pedestrian)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Quote: "The dark AMOLED theme is easy on the eyes when walking at 1 AM."  |  Liked Most: Dark High-Contrast UI  |  Suggestion Implemented: Include voice navigation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1808"/>
            <a:ext cx="11183112" cy="896112"/>
          </a:xfrm>
          <a:prstGeom prst="roundRect">
            <a:avLst/>
          </a:prstGeom>
          <a:solidFill>
            <a:srgbClr val="1C2130"/>
          </a:solidFill>
          <a:ln w="127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 rIns="137160" bIns="109728"/>
          <a:lstStyle/>
          <a:p>
            <a:pPr algn="ctr">
              <a:spcAft>
                <a:spcPts val="600"/>
              </a:spcAft>
              <a:defRPr sz="1150" b="1">
                <a:solidFill>
                  <a:srgbClr val="00D26A"/>
                </a:solidFill>
                <a:latin typeface="Inter"/>
              </a:defRPr>
            </a:pPr>
            <a:r>
              <a:t>T5 (Meera, Late Commuter)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•  Quote: "Love that my family gets an instant text when I reach my dorm safely."  |  Liked Most: Live Location Sharing  |  Suggestion Implemented: Add battery level indicator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24 of 25  ·  Design Jury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02336"/>
            <a:ext cx="36576" cy="841248"/>
          </a:xfrm>
          <a:prstGeom prst="rect">
            <a:avLst/>
          </a:prstGeom>
          <a:solidFill>
            <a:srgbClr val="00D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972800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0D26A"/>
                </a:solidFill>
                <a:latin typeface="Inter"/>
              </a:defRPr>
            </a:pPr>
            <a:r>
              <a:t>CONCLUSION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SafeRoute — Project Delivered &amp; Validated</a:t>
            </a:r>
          </a:p>
          <a:p>
            <a:pPr>
              <a:defRPr sz="1050">
                <a:solidFill>
                  <a:srgbClr val="6B7A99"/>
                </a:solidFill>
                <a:latin typeface="Inter"/>
              </a:defRPr>
            </a:pPr>
            <a:r>
              <a:t>Comprehensive 25-Slide HCD Case Study &amp; Working Web Prototype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4251960" cy="804672"/>
          </a:xfrm>
          <a:prstGeom prst="roundRect">
            <a:avLst/>
          </a:prstGeom>
          <a:solidFill>
            <a:srgbClr val="1C2130"/>
          </a:solidFill>
          <a:ln w="10160">
            <a:solidFill>
              <a:srgbClr val="5B8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5B8DEF"/>
                </a:solidFill>
                <a:latin typeface="Inter"/>
              </a:defRPr>
            </a:pPr>
            <a:r>
              <a:t>01 Discover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N=22 survey + N=6 interviews. Speed-bias flaw identified. Categorized research questions.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371600"/>
            <a:ext cx="4251960" cy="804672"/>
          </a:xfrm>
          <a:prstGeom prst="roundRect">
            <a:avLst/>
          </a:prstGeom>
          <a:solidFill>
            <a:srgbClr val="1C2130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8B5CF6"/>
                </a:solidFill>
                <a:latin typeface="Inter"/>
              </a:defRPr>
            </a:pPr>
            <a:r>
              <a:t>02 Define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Dual Personas (Elena &amp; Rahul), 4-cluster Affinity Map, Empathy Map &amp; 6-panel Storyboard.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4251960" cy="804672"/>
          </a:xfrm>
          <a:prstGeom prst="roundRect">
            <a:avLst/>
          </a:prstGeom>
          <a:solidFill>
            <a:srgbClr val="1C2130"/>
          </a:solidFill>
          <a:ln w="10160">
            <a:solidFill>
              <a:srgbClr val="FFC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FFC542"/>
                </a:solidFill>
                <a:latin typeface="Inter"/>
              </a:defRPr>
            </a:pPr>
            <a:r>
              <a:t>03 Ideate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SCAMPER Matrix, Concept Sketches, Information Architecture &amp; Dedicated User/Task Flows.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2286000"/>
            <a:ext cx="4251960" cy="804672"/>
          </a:xfrm>
          <a:prstGeom prst="roundRect">
            <a:avLst/>
          </a:prstGeom>
          <a:solidFill>
            <a:srgbClr val="1C2130"/>
          </a:solidFill>
          <a:ln w="1016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00D26A"/>
                </a:solidFill>
                <a:latin typeface="Inter"/>
              </a:defRPr>
            </a:pPr>
            <a:r>
              <a:t>04 Design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Wireframe Evolution (Lo-Fi ➔ Mid-Fi ➔ Hi-Fi), Dark Design System &amp; 4 Screen Designs.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00400"/>
            <a:ext cx="4251960" cy="804672"/>
          </a:xfrm>
          <a:prstGeom prst="roundRect">
            <a:avLst/>
          </a:prstGeom>
          <a:solidFill>
            <a:srgbClr val="1C2130"/>
          </a:solidFill>
          <a:ln w="10160">
            <a:solidFill>
              <a:srgbClr val="FF3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FF3D5A"/>
                </a:solidFill>
                <a:latin typeface="Inter"/>
              </a:defRPr>
            </a:pPr>
            <a:r>
              <a:t>05 Test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8 users, 3 rounds, T1-T5 feedback matrix. 100% task completion &amp; 4.8/5 satisfaction.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200400"/>
            <a:ext cx="4251960" cy="804672"/>
          </a:xfrm>
          <a:prstGeom prst="roundRect">
            <a:avLst/>
          </a:prstGeom>
          <a:solidFill>
            <a:srgbClr val="001A0A"/>
          </a:solidFill>
          <a:ln w="1270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>
              <a:spcAft>
                <a:spcPts val="200"/>
              </a:spcAft>
              <a:defRPr sz="1050" b="1">
                <a:solidFill>
                  <a:srgbClr val="00D26A"/>
                </a:solidFill>
                <a:latin typeface="Inter"/>
              </a:defRPr>
            </a:pPr>
            <a:r>
              <a:t>✦ Live Prototype</a:t>
            </a:r>
          </a:p>
          <a:p>
            <a:pPr>
              <a:lnSpc>
                <a:spcPct val="110000"/>
              </a:lnSpc>
              <a:defRPr sz="850">
                <a:solidFill>
                  <a:srgbClr val="6B7A99"/>
                </a:solidFill>
                <a:latin typeface="Inter"/>
              </a:defRPr>
            </a:pPr>
            <a:r>
              <a:t>Real Leaflet map · Haversine distances · All 4 screens · SOS flow · Hazard pins · Fully functional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14800"/>
            <a:ext cx="8778240" cy="2194560"/>
          </a:xfrm>
          <a:prstGeom prst="roundRect">
            <a:avLst/>
          </a:prstGeom>
          <a:solidFill>
            <a:srgbClr val="1C2130"/>
          </a:solidFill>
          <a:ln w="762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87952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B7A99"/>
                </a:solidFill>
                <a:latin typeface="Inter"/>
              </a:defRPr>
            </a:pPr>
            <a:r>
              <a:t>WHAT WAS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98848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🗺 Real interactive Leaflet map (react-leaflet + CartoDB)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📏 Actual route distances via Haversine formula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🛡 Safe vs unsafe route comparison with safety %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🚨 Full SOS countdown → contact dispatch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498848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📍 Community hazard report → live map pin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📤 Location sharing with toast notifications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🌙 4-screen native app with dark UI system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950">
                <a:solidFill>
                  <a:srgbClr val="C6CEDF"/>
                </a:solidFill>
                <a:latin typeface="Inter"/>
              </a:defRPr>
            </a:pPr>
            <a:r>
              <a:t>✓  📊 Complete 25-slide HCD case study presentation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1371600"/>
            <a:ext cx="2103120" cy="4297680"/>
          </a:xfrm>
          <a:prstGeom prst="roundRect">
            <a:avLst/>
          </a:prstGeom>
          <a:solidFill>
            <a:srgbClr val="131720"/>
          </a:solidFill>
          <a:ln w="25400">
            <a:solidFill>
              <a:srgbClr val="2A3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10344" y="1426464"/>
            <a:ext cx="1993391" cy="4187952"/>
          </a:xfrm>
          <a:prstGeom prst="roundRect">
            <a:avLst/>
          </a:prstGeom>
          <a:solidFill>
            <a:srgbClr val="0B0E14"/>
          </a:solidFill>
          <a:ln w="19050">
            <a:solidFill>
              <a:srgbClr val="FFC54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19" y="2880360"/>
            <a:ext cx="1920239" cy="1280160"/>
          </a:xfrm>
          <a:prstGeom prst="rect">
            <a:avLst/>
          </a:prstGeom>
          <a:noFill/>
        </p:spPr>
        <p:txBody>
          <a:bodyPr wrap="square" lIns="18288" tIns="18288">
            <a:spAutoFit/>
          </a:bodyPr>
          <a:lstStyle/>
          <a:p>
            <a:pPr algn="ctr">
              <a:lnSpc>
                <a:spcPct val="120000"/>
              </a:lnSpc>
              <a:defRPr sz="800" b="1" i="0">
                <a:solidFill>
                  <a:srgbClr val="FFC542"/>
                </a:solidFill>
                <a:latin typeface="Inter"/>
              </a:defRPr>
            </a:pPr>
            <a:r>
              <a:t>PROTOTYPE SCREEN</a:t>
            </a:r>
          </a:p>
          <a:p>
            <a:pPr algn="ctr">
              <a:lnSpc>
                <a:spcPct val="120000"/>
              </a:lnSpc>
              <a:defRPr sz="1000" b="1" i="0">
                <a:solidFill>
                  <a:srgbClr val="FFFFFF"/>
                </a:solidFill>
                <a:latin typeface="Inter"/>
              </a:defRPr>
            </a:pPr>
            <a:r>
              <a:t>Route Selection Screen</a:t>
            </a:r>
          </a:p>
          <a:p>
            <a:pPr algn="ctr">
              <a:lnSpc>
                <a:spcPct val="120000"/>
              </a:lnSpc>
              <a:defRPr sz="850" b="0" i="0">
                <a:solidFill>
                  <a:srgbClr val="6B7A99"/>
                </a:solidFill>
                <a:latin typeface="Inter"/>
              </a:defRPr>
            </a:pPr>
            <a:r>
              <a:t>Interactive Mobile 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5623560"/>
            <a:ext cx="2103120" cy="685800"/>
          </a:xfrm>
          <a:prstGeom prst="roundRect">
            <a:avLst/>
          </a:prstGeom>
          <a:solidFill>
            <a:srgbClr val="001A0A"/>
          </a:solidFill>
          <a:ln w="12700">
            <a:solidFill>
              <a:srgbClr val="00D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5687568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000" b="1" i="0">
                <a:solidFill>
                  <a:srgbClr val="00D26A"/>
                </a:solidFill>
                <a:latin typeface="Inter"/>
              </a:defRPr>
            </a:pPr>
            <a:r>
              <a:t>Tab 3</a:t>
            </a:r>
          </a:p>
          <a:p>
            <a:pPr algn="ctr">
              <a:lnSpc>
                <a:spcPct val="120000"/>
              </a:lnSpc>
              <a:defRPr sz="900" b="0" i="0">
                <a:solidFill>
                  <a:srgbClr val="C6CEDF"/>
                </a:solidFill>
                <a:latin typeface="Inter"/>
              </a:defRPr>
            </a:pPr>
            <a:r>
              <a:t>Live Prototype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83112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00">
                <a:solidFill>
                  <a:srgbClr val="6B7A99"/>
                </a:solidFill>
                <a:latin typeface="Inter"/>
              </a:defRPr>
            </a:pPr>
            <a:r>
              <a:t>SafeRoute HCD Case Study  ·  Slide 25 of 25  ·  Design Jury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55664"/>
            <a:ext cx="11183112" cy="9144"/>
          </a:xfrm>
          <a:prstGeom prst="rect">
            <a:avLst/>
          </a:prstGeom>
          <a:solidFill>
            <a:srgbClr val="2A3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