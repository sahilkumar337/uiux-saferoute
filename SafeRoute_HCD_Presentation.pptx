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8B5CF6"/>
                </a:solidFill>
                <a:latin typeface="Inter"/>
              </a:defRPr>
            </a:pPr>
            <a:r>
              <a:t>INTRODUCTION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SafeRoute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Smart Safety Navigation for Solo Night Travelers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6675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C6CEDF"/>
                </a:solidFill>
                <a:latin typeface="Inter"/>
              </a:defRPr>
            </a:pPr>
            <a:r>
              <a:t>A Human-Centered Design case study — a mobile navigation app that routes solo pedestrians along well-lit, high-footfall streets instead of the fastest dark shortcuts.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066543"/>
            <a:ext cx="1463040" cy="25603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1031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8B5CF6"/>
                </a:solidFill>
                <a:latin typeface="Inter"/>
              </a:defRPr>
            </a:pPr>
            <a:r>
              <a:t>Smart Cities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2066543"/>
            <a:ext cx="1463040" cy="25603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3432" y="21031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00D26A"/>
                </a:solidFill>
                <a:latin typeface="Inter"/>
              </a:defRPr>
            </a:pPr>
            <a:r>
              <a:t>Social Safety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13632" y="2066543"/>
            <a:ext cx="1463040" cy="25603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9352" y="21031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5B8DEF"/>
                </a:solidFill>
                <a:latin typeface="Inter"/>
              </a:defRPr>
            </a:pPr>
            <a:r>
              <a:t>HCD 5-Phase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9552" y="2066543"/>
            <a:ext cx="1463040" cy="25603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05272" y="21031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Live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560320"/>
            <a:ext cx="3108960" cy="123444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8B5CF6"/>
                </a:solidFill>
                <a:latin typeface="Inter"/>
              </a:defRPr>
            </a:pPr>
            <a:r>
              <a:t>5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HCD Phases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560320"/>
            <a:ext cx="3108960" cy="123444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FF3D5A"/>
                </a:solidFill>
                <a:latin typeface="Inter"/>
              </a:defRPr>
            </a:pPr>
            <a:r>
              <a:t>73%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Women anxious walking alone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77639"/>
            <a:ext cx="3108960" cy="123444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00D26A"/>
                </a:solidFill>
                <a:latin typeface="Inter"/>
              </a:defRPr>
            </a:pPr>
            <a:r>
              <a:t>94%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App safety score achieved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3977639"/>
            <a:ext cx="3108960" cy="123444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FFC542"/>
                </a:solidFill>
                <a:latin typeface="Inter"/>
              </a:defRPr>
            </a:pPr>
            <a:r>
              <a:t>3s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SOS response trigger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28016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1584" y="133502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78892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Route Selection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6692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0" i="0">
                <a:solidFill>
                  <a:srgbClr val="6B7A99"/>
                </a:solidFill>
                <a:latin typeface="Inter"/>
              </a:defRPr>
            </a:pPr>
            <a:r>
              <a:t>Route Selection</a:t>
            </a:r>
            <a:br/>
            <a:r>
              <a:t>Safe vs unsafe routes with real distances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 of 15  ·  Design Jury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5B8DEF"/>
                </a:solidFill>
                <a:latin typeface="Inter"/>
              </a:defRPr>
            </a:pPr>
            <a:r>
              <a:t>PHASE 1 – DISCOVER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The Darkness Trap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Problem Identification &amp; Secondary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74552" cy="18288"/>
          </a:xfrm>
          <a:prstGeom prst="round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642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C6CEDF"/>
                </a:solidFill>
                <a:latin typeface="Inter"/>
              </a:defRPr>
            </a:pPr>
            <a:r>
              <a:t>Traditional mapping apps optimize for SPEED ONLY. At night, pedestrians are regularly routed through unlit alleys, dark parks, and back lanes — not because it is safe, but because it saves 2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3474720" cy="150876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FF3D5A"/>
                </a:solidFill>
                <a:latin typeface="Inter"/>
              </a:defRPr>
            </a:pPr>
            <a:r>
              <a:t>73%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Of women feel highly anxious</a:t>
            </a:r>
            <a:br/>
            <a:r>
              <a:t>walking home alone at night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2240280"/>
            <a:ext cx="3474720" cy="150876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FFC542"/>
                </a:solidFill>
                <a:latin typeface="Inter"/>
              </a:defRPr>
            </a:pPr>
            <a:r>
              <a:t>85%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Prefer well-lit paths even if</a:t>
            </a:r>
            <a:br/>
            <a:r>
              <a:t>5–10 min longer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240280"/>
            <a:ext cx="3474720" cy="150876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00D26A"/>
                </a:solidFill>
                <a:latin typeface="Inter"/>
              </a:defRPr>
            </a:pPr>
            <a:r>
              <a:t>91%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Define safety by active</a:t>
            </a:r>
            <a:br/>
            <a:r>
              <a:t>storefronts &amp; streetlights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86200"/>
            <a:ext cx="10972800" cy="23774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C542"/>
                </a:solidFill>
                <a:latin typeface="Inter"/>
              </a:defRPr>
            </a:pPr>
            <a:r>
              <a:t>Root Cause: The Speed Bias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Google Maps calculates routes by fastest time — lighting data is NEVER considered.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There is no "safe walk" mode for pedestrians in any major navigation app today.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Community safety data (incidents, dim lights, blocked paths) is not integrated into live route logic.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The result: Elena gets routed through a pitch-black park to save 90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2 of 15  ·  Design Jury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5B8DEF"/>
                </a:solidFill>
                <a:latin typeface="Inter"/>
              </a:defRPr>
            </a:pPr>
            <a:r>
              <a:t>PHASE 1 – DISCOVER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Competitor Analysis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What Existing Apps Fail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C6CEDF"/>
                </a:solidFill>
                <a:latin typeface="Inter"/>
              </a:defRPr>
            </a:pPr>
            <a:r>
              <a:t>Existing tools offer location sharing but fail to provide preventative, safety-optimized routing.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93392"/>
            <a:ext cx="2194560" cy="38404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084832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C6CEDF"/>
                </a:solidFill>
                <a:latin typeface="Inter"/>
              </a:defRPr>
            </a:pPr>
            <a: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5768" y="1993392"/>
            <a:ext cx="1965960" cy="38404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9775" y="208483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C6CEDF"/>
                </a:solidFill>
                <a:latin typeface="Inter"/>
              </a:defRPr>
            </a:pPr>
            <a:r>
              <a:t>Google Maps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0016" y="1993392"/>
            <a:ext cx="1965960" cy="38404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208483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C6CEDF"/>
                </a:solidFill>
                <a:latin typeface="Inter"/>
              </a:defRPr>
            </a:pPr>
            <a:r>
              <a:t>Life360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84264" y="1993392"/>
            <a:ext cx="1965960" cy="384048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08483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C6CEDF"/>
                </a:solidFill>
                <a:latin typeface="Inter"/>
              </a:defRPr>
            </a:pPr>
            <a:r>
              <a:t>bSafe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68512" y="1993392"/>
            <a:ext cx="1965960" cy="384048"/>
          </a:xfrm>
          <a:prstGeom prst="roundRect">
            <a:avLst/>
          </a:prstGeom>
          <a:solidFill>
            <a:srgbClr val="002818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208483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00D26A"/>
                </a:solidFill>
                <a:latin typeface="Inter"/>
              </a:defRPr>
            </a:pPr>
            <a:r>
              <a:t>SafeRoute  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77440"/>
            <a:ext cx="21945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468880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C6CEDF"/>
                </a:solidFill>
                <a:latin typeface="Inter"/>
              </a:defRPr>
            </a:pPr>
            <a:r>
              <a:t>Safety 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5768" y="2377440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9775" y="2468880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Speed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0016" y="2377440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4024" y="2468880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84264" y="2377440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2468880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SOS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68512" y="2377440"/>
            <a:ext cx="1965960" cy="340156"/>
          </a:xfrm>
          <a:prstGeom prst="roundRect">
            <a:avLst/>
          </a:prstGeom>
          <a:solidFill>
            <a:srgbClr val="001A0F"/>
          </a:solidFill>
          <a:ln w="63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2468880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1" i="0">
                <a:solidFill>
                  <a:srgbClr val="00D26A"/>
                </a:solidFill>
                <a:latin typeface="Inter"/>
              </a:defRPr>
            </a:pPr>
            <a:r>
              <a:t>✓ Illumination-based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798064"/>
            <a:ext cx="21945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889504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C6CEDF"/>
                </a:solidFill>
                <a:latin typeface="Inter"/>
              </a:defRPr>
            </a:pPr>
            <a:r>
              <a:t>Dark Area Warnings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15768" y="2798064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9775" y="2889504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0016" y="2798064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4024" y="2889504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84264" y="2798064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2889504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68512" y="2798064"/>
            <a:ext cx="1965960" cy="340156"/>
          </a:xfrm>
          <a:prstGeom prst="roundRect">
            <a:avLst/>
          </a:prstGeom>
          <a:solidFill>
            <a:srgbClr val="001A0F"/>
          </a:solidFill>
          <a:ln w="63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2889504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1" i="0">
                <a:solidFill>
                  <a:srgbClr val="00D26A"/>
                </a:solidFill>
                <a:latin typeface="Inter"/>
              </a:defRPr>
            </a:pPr>
            <a:r>
              <a:t>✓ Real-time hazard flags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218688"/>
            <a:ext cx="21945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3310128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C6CEDF"/>
                </a:solidFill>
                <a:latin typeface="Inter"/>
              </a:defRPr>
            </a:pPr>
            <a:r>
              <a:t>One-Tap SOS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15768" y="3218688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79775" y="3310128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Open dialer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0016" y="3218688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64024" y="3310128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00D26A"/>
                </a:solidFill>
                <a:latin typeface="Inter"/>
              </a:defRPr>
            </a:pPr>
            <a:r>
              <a:t>✓ Basic notif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84264" y="3218688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3310128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00D26A"/>
                </a:solidFill>
                <a:latin typeface="Inter"/>
              </a:defRPr>
            </a:pPr>
            <a:r>
              <a:t>✓ Basic alarm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68512" y="3218688"/>
            <a:ext cx="1965960" cy="340156"/>
          </a:xfrm>
          <a:prstGeom prst="roundRect">
            <a:avLst/>
          </a:prstGeom>
          <a:solidFill>
            <a:srgbClr val="001A0F"/>
          </a:solidFill>
          <a:ln w="63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3310128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1" i="0">
                <a:solidFill>
                  <a:srgbClr val="00D26A"/>
                </a:solidFill>
                <a:latin typeface="Inter"/>
              </a:defRPr>
            </a:pPr>
            <a:r>
              <a:t>✓ Siren + SMS + GPS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639312"/>
            <a:ext cx="21945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3730752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C6CEDF"/>
                </a:solidFill>
                <a:latin typeface="Inter"/>
              </a:defRPr>
            </a:pPr>
            <a:r>
              <a:t>Community Reports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15768" y="3639312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79775" y="373075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00D26A"/>
                </a:solidFill>
                <a:latin typeface="Inter"/>
              </a:defRPr>
            </a:pPr>
            <a:r>
              <a:t>✓ Traffic only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00016" y="3639312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64024" y="373075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84264" y="3639312"/>
            <a:ext cx="1965960" cy="340156"/>
          </a:xfrm>
          <a:prstGeom prst="roundRect">
            <a:avLst/>
          </a:prstGeom>
          <a:solidFill>
            <a:srgbClr val="13172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48272" y="373075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None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68512" y="3639312"/>
            <a:ext cx="1965960" cy="340156"/>
          </a:xfrm>
          <a:prstGeom prst="roundRect">
            <a:avLst/>
          </a:prstGeom>
          <a:solidFill>
            <a:srgbClr val="001A0F"/>
          </a:solidFill>
          <a:ln w="63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20" y="3730752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1" i="0">
                <a:solidFill>
                  <a:srgbClr val="00D26A"/>
                </a:solidFill>
                <a:latin typeface="Inter"/>
              </a:defRPr>
            </a:pPr>
            <a:r>
              <a:t>✓ Street-level hazards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059935"/>
            <a:ext cx="21945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4151375"/>
            <a:ext cx="20665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C6CEDF"/>
                </a:solidFill>
                <a:latin typeface="Inter"/>
              </a:defRPr>
            </a:pPr>
            <a:r>
              <a:t>Night-Opt UI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15768" y="4059935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79775" y="4151375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Standard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00016" y="4059935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64024" y="4151375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Standard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84264" y="4059935"/>
            <a:ext cx="1965960" cy="340156"/>
          </a:xfrm>
          <a:prstGeom prst="roundRect">
            <a:avLst/>
          </a:prstGeom>
          <a:solidFill>
            <a:srgbClr val="1C2130"/>
          </a:solidFill>
          <a:ln w="635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48272" y="4151375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0" i="0">
                <a:solidFill>
                  <a:srgbClr val="FF3D5A"/>
                </a:solidFill>
                <a:latin typeface="Inter"/>
              </a:defRPr>
            </a:pPr>
            <a:r>
              <a:t>✗ Standard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68512" y="4059935"/>
            <a:ext cx="1965960" cy="340156"/>
          </a:xfrm>
          <a:prstGeom prst="roundRect">
            <a:avLst/>
          </a:prstGeom>
          <a:solidFill>
            <a:srgbClr val="001A0F"/>
          </a:solidFill>
          <a:ln w="63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32520" y="4151375"/>
            <a:ext cx="183794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50" b="1" i="0">
                <a:solidFill>
                  <a:srgbClr val="00D26A"/>
                </a:solidFill>
                <a:latin typeface="Inter"/>
              </a:defRPr>
            </a:pPr>
            <a:r>
              <a:t>✓ Dark + Glow Map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3 of 15  ·  Design Jury 2026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8B5CF6"/>
                </a:solidFill>
                <a:latin typeface="Inter"/>
              </a:defRPr>
            </a:pPr>
            <a:r>
              <a:t>PHASE 2 – DEFINE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Meet Elena Rivera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Primary User Persona — The Solo Student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286000" cy="470916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spcAft>
                <a:spcPts val="800"/>
              </a:spcAft>
              <a:defRPr sz="5600"/>
            </a:pPr>
            <a:r>
              <a:t>👩‍🎓</a:t>
            </a:r>
          </a:p>
          <a:p>
            <a:pPr algn="ctr">
              <a:spcAft>
                <a:spcPts val="300"/>
              </a:spcAft>
              <a:defRPr sz="1600" b="1">
                <a:solidFill>
                  <a:srgbClr val="FFFFFF"/>
                </a:solidFill>
                <a:latin typeface="Inter"/>
              </a:defRPr>
            </a:pPr>
            <a:r>
              <a:t>Elena Rivera</a:t>
            </a:r>
          </a:p>
          <a:p>
            <a:pPr algn="ctr">
              <a:spcAft>
                <a:spcPts val="14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Age 21 · College Student</a:t>
            </a:r>
          </a:p>
          <a:p>
            <a:pPr algn="ctr">
              <a:lnSpc>
                <a:spcPct val="130000"/>
              </a:lnSpc>
              <a:defRPr sz="900" i="1">
                <a:solidFill>
                  <a:srgbClr val="C6CEDF"/>
                </a:solidFill>
                <a:latin typeface="Inter"/>
              </a:defRPr>
            </a:pPr>
            <a:r>
              <a:t>"Walking back at 10 PM is terrifying. I clutch my keys and hope for the best."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600200"/>
            <a:ext cx="8778240" cy="1188720"/>
          </a:xfrm>
          <a:prstGeom prst="roundRect">
            <a:avLst/>
          </a:prstGeom>
          <a:solidFill>
            <a:srgbClr val="180F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8B5CF6"/>
                </a:solidFill>
                <a:latin typeface="Inter"/>
              </a:defRPr>
            </a:pPr>
            <a:r>
              <a:t>Core Quote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"Walking back to my dorm from my bookstore shift at 10 PM is always terrifying. I clutch my keys and hope for the best. Google Maps routes me through the dark park and doesn't care."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907792"/>
            <a:ext cx="2852927" cy="14630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00D26A"/>
                </a:solidFill>
                <a:latin typeface="Inter"/>
              </a:defRPr>
            </a:pPr>
            <a:r>
              <a:t>Goals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Avoid unlit shortcuts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Alert family fast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Skip expensive Ubers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Walk confidently at night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2907792"/>
            <a:ext cx="2852927" cy="14630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5B8DEF"/>
                </a:solidFill>
                <a:latin typeface="Inter"/>
              </a:defRPr>
            </a:pPr>
            <a:r>
              <a:t>Behaviors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Holds keys as weapon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Keeps one earbud out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Texts roommate ETA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Calls friend while walking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42832" y="2907792"/>
            <a:ext cx="2852927" cy="14630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3D5A"/>
                </a:solidFill>
                <a:latin typeface="Inter"/>
              </a:defRPr>
            </a:pPr>
            <a:r>
              <a:t>Pain Points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Apps route through dark parks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Rideshares too costly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No lighting layer on maps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Fear is exhausting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4517136"/>
            <a:ext cx="8778240" cy="16916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C542"/>
                </a:solidFill>
                <a:latin typeface="Inter"/>
              </a:defRPr>
            </a:pPr>
            <a:r>
              <a:t>Why SafeRoute Matters for Elena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SafeRoute directly resolves ALL three pain points: it shows lit routes on a live map, provides a one-tap SOS to alert contacts, and is free to use — unlike rideshares.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The 94% safety score gives Elena the confidence she has never had on a navigation app before.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4 of 15  ·  Design Jury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8B5CF6"/>
                </a:solidFill>
                <a:latin typeface="Inter"/>
              </a:defRPr>
            </a:pPr>
            <a:r>
              <a:t>PHASE 2 – DEFINE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Empathy Map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Mapping Elena's Emotional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349240" cy="21488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5B8DEF"/>
                </a:solidFill>
                <a:latin typeface="Inter"/>
              </a:defRPr>
            </a:pPr>
            <a:r>
              <a:t>SAYS 💬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"Should I pay $15 for a 5-min Uber?"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"Let me text my roommate I'm leaving work."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"Why are these streetlamps broken again?"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53328" y="1600200"/>
            <a:ext cx="5349240" cy="21488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8B5CF6"/>
                </a:solidFill>
                <a:latin typeface="Inter"/>
              </a:defRPr>
            </a:pPr>
            <a:r>
              <a:t>THINKS 🧠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"Is someone following me right now?"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"I feel so vulnerable alone out here."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"I hate being scared of my own neighbourhood."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77639"/>
            <a:ext cx="5349240" cy="21488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C542"/>
                </a:solidFill>
                <a:latin typeface="Inter"/>
              </a:defRPr>
            </a:pPr>
            <a:r>
              <a:t>DOES 🚶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Walks fast, grips phone tightly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Turns around at every sudden noise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Calls a friend to stay on the 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53328" y="3977639"/>
            <a:ext cx="5349240" cy="214884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3D5A"/>
                </a:solidFill>
                <a:latin typeface="Inter"/>
              </a:defRPr>
            </a:pPr>
            <a:r>
              <a:t>FEELS ❤️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Highly anxious in unlit areas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Financially burdened by rideshares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Hyper-vigilant of every movement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217920"/>
            <a:ext cx="11274552" cy="3657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2910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FFC542"/>
                </a:solidFill>
                <a:latin typeface="Inter"/>
              </a:defRPr>
            </a:pPr>
            <a:r>
              <a:t>→ Design Implications:  Illumination map layer  ·  3-second SOS panic button  ·  One-tap location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5 of 15  ·  Design Jury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8B5CF6"/>
                </a:solidFill>
                <a:latin typeface="Inter"/>
              </a:defRPr>
            </a:pPr>
            <a:r>
              <a:t>PHASE 2 – DEFINE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The Walk Home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Elena's User Journey — From Fear to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337560"/>
            <a:ext cx="11183112" cy="18288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148840" cy="3474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6B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spcAft>
                <a:spcPts val="500"/>
              </a:spcAft>
              <a:defRPr sz="2800" b="1">
                <a:solidFill>
                  <a:srgbClr val="6B7A99"/>
                </a:solidFill>
                <a:latin typeface="Inter"/>
              </a:defRPr>
            </a:pPr>
            <a:r>
              <a:t>1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Shift Ends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10:00 PM. Anxious.</a:t>
            </a:r>
            <a:br/>
            <a:r>
              <a:t>Shares location to roommate.</a:t>
            </a:r>
          </a:p>
          <a:p>
            <a:pPr algn="ctr">
              <a:defRPr sz="2600"/>
            </a:pPr>
            <a:r>
              <a:t>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03020" y="6183629"/>
            <a:ext cx="548640" cy="308610"/>
          </a:xfrm>
          <a:prstGeom prst="round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1580" y="651052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Shift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00200"/>
            <a:ext cx="2148840" cy="3474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spcAft>
                <a:spcPts val="500"/>
              </a:spcAft>
              <a:defRPr sz="2800" b="1">
                <a:solidFill>
                  <a:srgbClr val="FFC542"/>
                </a:solidFill>
                <a:latin typeface="Inter"/>
              </a:defRPr>
            </a:pPr>
            <a:r>
              <a:t>2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Open Maps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Standard app routes</a:t>
            </a:r>
            <a:br/>
            <a:r>
              <a:t>through dim park.</a:t>
            </a:r>
          </a:p>
          <a:p>
            <a:pPr algn="ctr">
              <a:defRPr sz="2600"/>
            </a:pPr>
            <a:r>
              <a:t>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3300" y="5813298"/>
            <a:ext cx="548640" cy="678942"/>
          </a:xfrm>
          <a:prstGeom prst="roundRect">
            <a:avLst/>
          </a:prstGeom>
          <a:solidFill>
            <a:srgbClr val="FF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651052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Open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600200"/>
            <a:ext cx="2148840" cy="3474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spcAft>
                <a:spcPts val="500"/>
              </a:spcAft>
              <a:defRPr sz="2800" b="1">
                <a:solidFill>
                  <a:srgbClr val="FF3D5A"/>
                </a:solidFill>
                <a:latin typeface="Inter"/>
              </a:defRPr>
            </a:pPr>
            <a:r>
              <a:t>3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Dark Alley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Reaches pitch-black</a:t>
            </a:r>
            <a:br/>
            <a:r>
              <a:t>shortcut. Peak fear.</a:t>
            </a:r>
          </a:p>
          <a:p>
            <a:pPr algn="ctr">
              <a:defRPr sz="2600"/>
            </a:pPr>
            <a:r>
              <a:t>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83580" y="5381244"/>
            <a:ext cx="548640" cy="1110996"/>
          </a:xfrm>
          <a:prstGeom prst="round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2140" y="651052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Dark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600200"/>
            <a:ext cx="2148840" cy="3474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spcAft>
                <a:spcPts val="500"/>
              </a:spcAft>
              <a:defRPr sz="2800" b="1">
                <a:solidFill>
                  <a:srgbClr val="00D26A"/>
                </a:solidFill>
                <a:latin typeface="Inter"/>
              </a:defRPr>
            </a:pPr>
            <a:r>
              <a:t>4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SafeRoute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Switches app. 94%</a:t>
            </a:r>
            <a:br/>
            <a:r>
              <a:t>safe route selected.</a:t>
            </a:r>
          </a:p>
          <a:p>
            <a:pPr algn="ctr">
              <a:defRPr sz="2600"/>
            </a:pPr>
            <a:r>
              <a:t>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3860" y="6060186"/>
            <a:ext cx="548640" cy="432054"/>
          </a:xfrm>
          <a:prstGeom prst="round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2420" y="651052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SafeRo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600200"/>
            <a:ext cx="2148840" cy="3474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0"/>
          <a:lstStyle/>
          <a:p>
            <a:pPr algn="ctr">
              <a:spcAft>
                <a:spcPts val="500"/>
              </a:spcAft>
              <a:defRPr sz="2800" b="1">
                <a:solidFill>
                  <a:srgbClr val="00D26A"/>
                </a:solidFill>
                <a:latin typeface="Inter"/>
              </a:defRPr>
            </a:pPr>
            <a:r>
              <a:t>5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Home Safe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  <a:defRPr sz="1000">
                <a:solidFill>
                  <a:srgbClr val="6B7A99"/>
                </a:solidFill>
                <a:latin typeface="Inter"/>
              </a:defRPr>
            </a:pPr>
            <a:r>
              <a:t>Arrives safely.</a:t>
            </a:r>
            <a:br/>
            <a:r>
              <a:t>Confidence restored.</a:t>
            </a:r>
          </a:p>
          <a:p>
            <a:pPr algn="ctr">
              <a:defRPr sz="2600"/>
            </a:pPr>
            <a:r>
              <a:t>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64140" y="6368796"/>
            <a:ext cx="548640" cy="123444"/>
          </a:xfrm>
          <a:prstGeom prst="round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72700" y="651052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Home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700" b="0" i="0">
                <a:solidFill>
                  <a:srgbClr val="6B7A99"/>
                </a:solidFill>
                <a:latin typeface="Inter"/>
              </a:defRPr>
            </a:pPr>
            <a:r>
              <a:t>ANXIETY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6 of 15  ·  Design Jury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FF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C542"/>
                </a:solidFill>
                <a:latin typeface="Inter"/>
              </a:defRPr>
            </a:pPr>
            <a:r>
              <a:t>PHASE 3 – IDEATE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Brainstorming Safety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"How Might We" &amp; Crazy 8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10972800" cy="1371600"/>
          </a:xfrm>
          <a:prstGeom prst="roundRect">
            <a:avLst/>
          </a:prstGeom>
          <a:solidFill>
            <a:srgbClr val="1A1204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C542"/>
                </a:solidFill>
                <a:latin typeface="Inter"/>
              </a:defRPr>
            </a:pPr>
            <a:r>
              <a:t>How Might We (HMW) Statements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HMW 1 (Routing): How might we guide solo nighttime walkers along lit streets without adding heavy travel delays?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HMW 2 (Emergency): How might we provide a frictionless, one-tap panic mechanism that alerts contacts and deters offenders in seconds?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HMW 3 (Community): How might we empower pedestrians to flag unsafe streets in real time, improving the map for everyone?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5468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00D26A"/>
                </a:solidFill>
                <a:latin typeface="Inter"/>
              </a:defRPr>
            </a:pPr>
            <a:r>
              <a:t>🗺  Illumination HUD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Color-coded route lines: green (safe, lit streets) vs red dashed (dark alleys). Built into live 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7096" y="315468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FF3D5A"/>
                </a:solidFill>
                <a:latin typeface="Inter"/>
              </a:defRPr>
            </a:pPr>
            <a:r>
              <a:t>🚨  3s SOS Countdown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Pulsing countdown + large abort button before GPS dispatch. Prevents false 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91272" y="315468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FFC542"/>
                </a:solidFill>
                <a:latin typeface="Inter"/>
              </a:defRPr>
            </a:pPr>
            <a:r>
              <a:t>📍  Hazard Pin System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Tap to report dim lights, blocked paths, suspicious crowds. Pin appears on live map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7200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8B5CF6"/>
                </a:solidFill>
                <a:latin typeface="Inter"/>
              </a:defRPr>
            </a:pPr>
            <a:r>
              <a:t>🛡  Safety Score Badge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"94% Safety Corridor" — derived from CCTV coverage, footfall &amp; community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457200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5B8DEF"/>
                </a:solidFill>
                <a:latin typeface="Inter"/>
              </a:defRPr>
            </a:pPr>
            <a:r>
              <a:t>📤  Live Location Share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One tap sends a live GPS link via SMS to pre-set emergency contacts.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91272" y="4572000"/>
            <a:ext cx="3566160" cy="128016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C6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100" b="1">
                <a:solidFill>
                  <a:srgbClr val="C6CEDF"/>
                </a:solidFill>
                <a:latin typeface="Inter"/>
              </a:defRPr>
            </a:pPr>
            <a:r>
              <a:t>🌙  Night-Mode Map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Dark CartoDB tiles + glowing neon routes. Preserves night vision while navigating dark streets.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7 of 15  ·  Design Jury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FF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C542"/>
                </a:solidFill>
                <a:latin typeface="Inter"/>
              </a:defRPr>
            </a:pPr>
            <a:r>
              <a:t>PHASE 3 – IDEATE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App Architecture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Information Architecture &amp; 4-Screen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2606040" cy="356616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00D26A"/>
                </a:solidFill>
                <a:latin typeface="Inter"/>
              </a:defRPr>
            </a:pPr>
            <a:r>
              <a:t>1. Map HUD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Search destination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Safety score toggle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Route selector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Live hazard pins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Destination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45920"/>
            <a:ext cx="2606040" cy="356616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5B8DEF"/>
                </a:solidFill>
                <a:latin typeface="Inter"/>
              </a:defRPr>
            </a:pPr>
            <a:r>
              <a:t>2. Navigation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Turn-by-turn HUD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Safety corridor badge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SOS pulse button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Share location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Back to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2606040" cy="356616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3D5A"/>
                </a:solidFill>
                <a:latin typeface="Inter"/>
              </a:defRPr>
            </a:pPr>
            <a:r>
              <a:t>3. SOS Center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3s countdown overlay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Emergency contacts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GPS SMS dispatch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Audio siren control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Abort button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645920"/>
            <a:ext cx="2606040" cy="356616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FFC542"/>
                </a:solidFill>
                <a:latin typeface="Inter"/>
              </a:defRPr>
            </a:pPr>
            <a:r>
              <a:t>4. Hazard Reports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Category selection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Map pin placement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Notes text input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Community feed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000">
                <a:solidFill>
                  <a:srgbClr val="C6CEDF"/>
                </a:solidFill>
                <a:latin typeface="Inter"/>
              </a:defRPr>
            </a:pPr>
            <a:r>
              <a:t>•  Instant map 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76672"/>
            <a:ext cx="10972800" cy="987552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 bIns="109728"/>
          <a:lstStyle/>
          <a:p>
            <a:pPr algn="ctr">
              <a:spcAft>
                <a:spcPts val="700"/>
              </a:spcAft>
              <a:defRPr sz="1200" b="1">
                <a:solidFill>
                  <a:srgbClr val="00D26A"/>
                </a:solidFill>
                <a:latin typeface="Inter"/>
              </a:defRPr>
            </a:pPr>
            <a:r>
              <a:t>Primary Task Flow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100">
                <a:solidFill>
                  <a:srgbClr val="C6CEDF"/>
                </a:solidFill>
                <a:latin typeface="Inter"/>
              </a:defRPr>
            </a:pPr>
            <a:r>
              <a:t>•  Open App  →  Set Destination  →  View Both Routes on Map  →  Compare Safety Score  →  Select Safe Route  →  Start Navigation  →  SOS if Needed  →  Report Hazards  →  Arrive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8 of 15  ·  Design Jury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D26A"/>
                </a:solidFill>
                <a:latin typeface="Inter"/>
              </a:defRPr>
            </a:pPr>
            <a:r>
              <a:t>PHASE 4 – DESIGN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Design System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Night-Optimized Visual Identity &amp;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900" b="1" i="0">
                <a:solidFill>
                  <a:srgbClr val="6B7A99"/>
                </a:solidFill>
                <a:latin typeface="Inter"/>
              </a:defRPr>
            </a:pPr>
            <a:r>
              <a:t>COLOR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737360" cy="594360"/>
          </a:xfrm>
          <a:prstGeom prst="roundRect">
            <a:avLst/>
          </a:prstGeom>
          <a:solidFill>
            <a:srgbClr val="0B0E1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Stealth BG</a:t>
            </a:r>
            <a:br/>
            <a:r>
              <a:t>#0B0E14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6584" y="1828800"/>
            <a:ext cx="1737360" cy="594360"/>
          </a:xfrm>
          <a:prstGeom prst="roundRect">
            <a:avLst/>
          </a:prstGeom>
          <a:solidFill>
            <a:srgbClr val="00D26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6584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Safety Green</a:t>
            </a:r>
            <a:br/>
            <a:r>
              <a:t>#00D26A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828800"/>
            <a:ext cx="1737360" cy="594360"/>
          </a:xfrm>
          <a:prstGeom prst="roundRect">
            <a:avLst/>
          </a:prstGeom>
          <a:solidFill>
            <a:srgbClr val="FF3D5A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SOS Red</a:t>
            </a:r>
            <a:br/>
            <a:r>
              <a:t>#FF3D5A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828800"/>
            <a:ext cx="1737360" cy="594360"/>
          </a:xfrm>
          <a:prstGeom prst="roundRect">
            <a:avLst/>
          </a:prstGeom>
          <a:solidFill>
            <a:srgbClr val="FFC542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Hazard Amber</a:t>
            </a:r>
            <a:br/>
            <a:r>
              <a:t>#FFC542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6" y="1828800"/>
            <a:ext cx="1737360" cy="594360"/>
          </a:xfrm>
          <a:prstGeom prst="roundRect">
            <a:avLst/>
          </a:prstGeom>
          <a:solidFill>
            <a:srgbClr val="8B5CF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7576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Accent Purple</a:t>
            </a:r>
            <a:br/>
            <a:r>
              <a:t>#8B5CF6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1828800"/>
            <a:ext cx="1737360" cy="594360"/>
          </a:xfrm>
          <a:prstGeom prst="roundRect">
            <a:avLst/>
          </a:prstGeom>
          <a:solidFill>
            <a:srgbClr val="5B8DE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24688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Info Blue</a:t>
            </a:r>
            <a:br/>
            <a:r>
              <a:t>#5B8DEF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4436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900" b="1" i="0">
                <a:solidFill>
                  <a:srgbClr val="6B7A99"/>
                </a:solidFill>
                <a:latin typeface="Inter"/>
              </a:defRPr>
            </a:pPr>
            <a:r>
              <a:t>TYPOGRAPHY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63824"/>
            <a:ext cx="6400800" cy="1188720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400"/>
              </a:spcAft>
              <a:defRPr sz="3000" b="1">
                <a:solidFill>
                  <a:srgbClr val="FFFFFF"/>
                </a:solidFill>
                <a:latin typeface="Inter"/>
              </a:defRPr>
            </a:pPr>
            <a:r>
              <a:t>SafeRoute</a:t>
            </a:r>
          </a:p>
          <a:p>
            <a:pPr>
              <a:spcAft>
                <a:spcPts val="800"/>
              </a:spcAft>
              <a:defRPr sz="900">
                <a:solidFill>
                  <a:srgbClr val="6B7A99"/>
                </a:solidFill>
                <a:latin typeface="Inter"/>
              </a:defRPr>
            </a:pPr>
            <a:r>
              <a:t>Inter Black — Headings</a:t>
            </a:r>
          </a:p>
          <a:p>
            <a:pPr>
              <a:spcAft>
                <a:spcPts val="300"/>
              </a:spcAft>
              <a:defRPr sz="1300">
                <a:solidFill>
                  <a:srgbClr val="C6CEDF"/>
                </a:solidFill>
                <a:latin typeface="Inter"/>
              </a:defRPr>
            </a:pPr>
            <a:r>
              <a:t>Turn right in 200m → Cedar Ave</a:t>
            </a:r>
          </a:p>
          <a:p>
            <a:pPr>
              <a:defRPr sz="900">
                <a:solidFill>
                  <a:srgbClr val="6B7A99"/>
                </a:solidFill>
                <a:latin typeface="Inter"/>
              </a:defRPr>
            </a:pPr>
            <a:r>
              <a:t>Inter Regular — Body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944368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900" b="1" i="0">
                <a:solidFill>
                  <a:srgbClr val="6B7A99"/>
                </a:solidFill>
                <a:latin typeface="Inter"/>
              </a:defRPr>
            </a:pPr>
            <a:r>
              <a:t>DESIGN PRINCIPLES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163824"/>
            <a:ext cx="4645152" cy="77724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🌙 Night Vision First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Dark #0B0E14 BG preserves night vision — no blinding white screen while walking dark streets.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4032504"/>
            <a:ext cx="4645152" cy="77724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⚡ Speed Over Beauty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All safety actions require ≤1 tap. No deep menus. Designed for dark, stressful conditions.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4901183"/>
            <a:ext cx="4645152" cy="77724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  <a:defRPr sz="1100" b="1">
                <a:solidFill>
                  <a:srgbClr val="FFFFFF"/>
                </a:solidFill>
                <a:latin typeface="Inter"/>
              </a:defRPr>
            </a:pPr>
            <a:r>
              <a:t>🎯 Glanceable UI</a:t>
            </a:r>
          </a:p>
          <a:p>
            <a:pPr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Large fonts, glow effects, high contrast — readable at a single glance while moving.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6227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900" b="1" i="0">
                <a:solidFill>
                  <a:srgbClr val="6B7A99"/>
                </a:solidFill>
                <a:latin typeface="Inter"/>
              </a:defRPr>
            </a:pPr>
            <a:r>
              <a:t>COMPONENT SHOWCASE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00016"/>
            <a:ext cx="1737360" cy="347472"/>
          </a:xfrm>
          <a:prstGeom prst="roundRect">
            <a:avLst/>
          </a:prstGeom>
          <a:solidFill>
            <a:srgbClr val="00D26A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0B0E14"/>
                </a:solidFill>
                <a:latin typeface="Inter"/>
              </a:defRPr>
            </a:pPr>
            <a:r>
              <a:t>Primary CTA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86584" y="4700016"/>
            <a:ext cx="1737360" cy="347472"/>
          </a:xfrm>
          <a:prstGeom prst="roundRect">
            <a:avLst/>
          </a:prstGeom>
          <a:solidFill>
            <a:srgbClr val="FF3D5A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9736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0B0E14"/>
                </a:solidFill>
                <a:latin typeface="Inter"/>
              </a:defRPr>
            </a:pPr>
            <a:r>
              <a:t>Danger Button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4700016"/>
            <a:ext cx="1737360" cy="347472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00D26A"/>
                </a:solidFill>
                <a:latin typeface="Inter"/>
              </a:defRPr>
            </a:pPr>
            <a:r>
              <a:t>94% Safe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3912" y="4700016"/>
            <a:ext cx="1737360" cy="347472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7064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FF3D5A"/>
                </a:solidFill>
                <a:latin typeface="Inter"/>
              </a:defRPr>
            </a:pPr>
            <a:r>
              <a:t>38% Safe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37576" y="4700016"/>
            <a:ext cx="1737360" cy="347472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0728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FFC542"/>
                </a:solidFill>
                <a:latin typeface="Inter"/>
              </a:defRPr>
            </a:pPr>
            <a:r>
              <a:t>⚠ Hazard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4700016"/>
            <a:ext cx="1737360" cy="347472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94392" y="4754880"/>
            <a:ext cx="159105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FF3D5A"/>
                </a:solidFill>
                <a:latin typeface="Inter"/>
              </a:defRPr>
            </a:pPr>
            <a:r>
              <a:t>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9 of 15  ·  Design Jury 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D26A"/>
                </a:solidFill>
                <a:latin typeface="Inter"/>
              </a:defRPr>
            </a:pPr>
            <a:r>
              <a:t>PHASE 4 – PROTOTYPE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Screen 1: Route Selection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The Core Decision — Safe vs Fastest Route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7784" y="142646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Route Selection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760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Route Selection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371600"/>
            <a:ext cx="8686800" cy="822960"/>
          </a:xfrm>
          <a:prstGeom prst="roundRect">
            <a:avLst/>
          </a:prstGeom>
          <a:solidFill>
            <a:srgbClr val="002818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82296"/>
          <a:lstStyle/>
          <a:p>
            <a:pPr algn="ctr">
              <a:spcAft>
                <a:spcPts val="400"/>
              </a:spcAft>
              <a:defRPr sz="950" b="1">
                <a:solidFill>
                  <a:srgbClr val="00D26A"/>
                </a:solidFill>
                <a:latin typeface="Inter"/>
              </a:defRPr>
            </a:pPr>
            <a:r>
              <a:t>➤  WHAT THIS SCREEN DOES</a:t>
            </a:r>
          </a:p>
          <a:p>
            <a:pPr>
              <a:lnSpc>
                <a:spcPct val="130000"/>
              </a:lnSpc>
              <a:defRPr sz="1000">
                <a:solidFill>
                  <a:srgbClr val="C6CEDF"/>
                </a:solidFill>
                <a:latin typeface="Inter"/>
              </a:defRPr>
            </a:pPr>
            <a:r>
              <a:t>Displays both routes simultaneously on a live, pannable dark map — letting the user instantly see WHERE the danger lies before choosing their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487168"/>
            <a:ext cx="347472" cy="347472"/>
          </a:xfrm>
          <a:prstGeom prst="round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2404872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Real Interactive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670048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CartoDB Dark Matter tiles — fully zoomable, scrollable, pannable. Built with react-leaflet.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980944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3255263"/>
            <a:ext cx="347472" cy="347472"/>
          </a:xfrm>
          <a:prstGeom prst="round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172968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Safe Route (Green 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3438144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L-shaped path via lit streets, open stores, CCTV coverage. 2.8 km · 34 min.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3749039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71800" y="4023359"/>
            <a:ext cx="347472" cy="347472"/>
          </a:xfrm>
          <a:prstGeom prst="roundRect">
            <a:avLst/>
          </a:prstGeom>
          <a:solidFill>
            <a:srgbClr val="23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941063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Unsafe Route (Red Dashed)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4206240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Direct diagonal shortcut through dim alleys. 2.2 km · 27 min — but flagged as only 38% safe.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4517136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4791456"/>
            <a:ext cx="347472" cy="347472"/>
          </a:xfrm>
          <a:prstGeom prst="roundRect">
            <a:avLst/>
          </a:prstGeom>
          <a:solidFill>
            <a:srgbClr val="13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4709160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Route Cards Below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4974336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Tappable cards with safety %, distance, time, and key hazard warnings for each route.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10 of 15  ·  Design Jury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D26A"/>
                </a:solidFill>
                <a:latin typeface="Inter"/>
              </a:defRPr>
            </a:pPr>
            <a:r>
              <a:t>PHASE 4 – PROTOTYPE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Screen 2: Active Navigation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Turn-by-Turn with Safety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8686800" cy="822960"/>
          </a:xfrm>
          <a:prstGeom prst="roundRect">
            <a:avLst/>
          </a:prstGeom>
          <a:solidFill>
            <a:srgbClr val="002818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82296"/>
          <a:lstStyle/>
          <a:p>
            <a:pPr algn="ctr">
              <a:spcAft>
                <a:spcPts val="400"/>
              </a:spcAft>
              <a:defRPr sz="950" b="1">
                <a:solidFill>
                  <a:srgbClr val="00D26A"/>
                </a:solidFill>
                <a:latin typeface="Inter"/>
              </a:defRPr>
            </a:pPr>
            <a:r>
              <a:t>🛡  WHAT THIS SCREEN DOES</a:t>
            </a:r>
          </a:p>
          <a:p>
            <a:pPr>
              <a:lnSpc>
                <a:spcPct val="130000"/>
              </a:lnSpc>
              <a:defRPr sz="1000">
                <a:solidFill>
                  <a:srgbClr val="C6CEDF"/>
                </a:solidFill>
                <a:latin typeface="Inter"/>
              </a:defRPr>
            </a:pPr>
            <a:r>
              <a:t>The active navigation HUD — turn-by-turn guidance with a safety overlay badge, SOS button always visible, live hazard reporting and one-tap location share.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87168"/>
            <a:ext cx="347472" cy="347472"/>
          </a:xfrm>
          <a:prstGeom prst="round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404872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Turn-by-Turn HUD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670048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Shows next turn instruction, km remaining, and ETA at top. Updates in real time during walk.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80944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182111"/>
            <a:ext cx="347472" cy="347472"/>
          </a:xfrm>
          <a:prstGeom prst="round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099815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Safety Corridor Badge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364991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"94% Safety Corridor" overlaid on map — confirms user is on the safe path at all times.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75887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877056"/>
            <a:ext cx="347472" cy="347472"/>
          </a:xfrm>
          <a:prstGeom prst="roundRect">
            <a:avLst/>
          </a:prstGeom>
          <a:solidFill>
            <a:srgbClr val="23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794760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SOS Button (Always Visible)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4059936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Animated glowing red button always on screen. One tap starts the 3-second emergency countdown.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70832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572000"/>
            <a:ext cx="347472" cy="347472"/>
          </a:xfrm>
          <a:prstGeom prst="roundRect">
            <a:avLst/>
          </a:prstGeom>
          <a:solidFill>
            <a:srgbClr val="23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489704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Report Hazard Button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754880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Slide-up modal to pin a new danger — dim light, blocked path, or crowd — on the live map.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65776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5266944"/>
            <a:ext cx="347472" cy="347472"/>
          </a:xfrm>
          <a:prstGeom prst="round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5184648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Share Location Button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5449824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One tap sends a live GPS link to pre-set emergency contacts via SMS. Toast confirmation shown.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37160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56064" y="142646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88036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Active Navigation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760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Navigation Screen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11 of 15  ·  Design Jury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FF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3D5A"/>
                </a:solidFill>
                <a:latin typeface="Inter"/>
              </a:defRPr>
            </a:pPr>
            <a:r>
              <a:t>PHASE 4 – PROTOTYPE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Screen 3: SOS Emergency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3-Second Countdown &amp; Contact Dispatch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7784" y="142646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SOS Emergency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760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SOS Countdown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371600"/>
            <a:ext cx="8686800" cy="822960"/>
          </a:xfrm>
          <a:prstGeom prst="roundRect">
            <a:avLst/>
          </a:prstGeom>
          <a:solidFill>
            <a:srgbClr val="280810"/>
          </a:solidFill>
          <a:ln w="1524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82296"/>
          <a:lstStyle/>
          <a:p>
            <a:pPr algn="ctr">
              <a:spcAft>
                <a:spcPts val="400"/>
              </a:spcAft>
              <a:defRPr sz="950" b="1">
                <a:solidFill>
                  <a:srgbClr val="FF3D5A"/>
                </a:solidFill>
                <a:latin typeface="Inter"/>
              </a:defRPr>
            </a:pPr>
            <a:r>
              <a:t>🚨  WHAT THIS SCREEN DOES</a:t>
            </a:r>
          </a:p>
          <a:p>
            <a:pPr>
              <a:lnSpc>
                <a:spcPct val="130000"/>
              </a:lnSpc>
              <a:defRPr sz="1000">
                <a:solidFill>
                  <a:srgbClr val="C6CEDF"/>
                </a:solidFill>
                <a:latin typeface="Inter"/>
              </a:defRPr>
            </a:pPr>
            <a:r>
              <a:t>After the SOS tap, a 3-second animated countdown gives the user time to abort if accidental — then dispatches live GPS via SMS to all emergency contacts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487168"/>
            <a:ext cx="347472" cy="347472"/>
          </a:xfrm>
          <a:prstGeom prst="roundRect">
            <a:avLst/>
          </a:prstGeom>
          <a:solidFill>
            <a:srgbClr val="23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2404872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3-Second Visual Countdown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670048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Large pulsing number with expanding ring animation — user sees exactly when GPS is sent.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980944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3255263"/>
            <a:ext cx="347472" cy="347472"/>
          </a:xfrm>
          <a:prstGeom prst="roundRect">
            <a:avLst/>
          </a:prstGeom>
          <a:solidFill>
            <a:srgbClr val="23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172968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Hold to Cancel (Abort Button)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3438144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Prominent abort button prevents false alarms — key usability insight from early testing.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3749039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71800" y="4023359"/>
            <a:ext cx="347472" cy="347472"/>
          </a:xfrm>
          <a:prstGeom prst="round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941063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Live Status 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4206240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Shows: GPS lock → SMS compose → Campus security alert in real time as steps complete.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4517136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1800" y="4791456"/>
            <a:ext cx="347472" cy="347472"/>
          </a:xfrm>
          <a:prstGeom prst="roundRect">
            <a:avLst/>
          </a:prstGeom>
          <a:solidFill>
            <a:srgbClr val="23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4709160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Audio Siren Activated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4974336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After 3s, device emits loud alarm siren + dispatches GPS SMS to Mom, Roommate &amp; Campus Police.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5486400"/>
            <a:ext cx="8686800" cy="731520"/>
          </a:xfrm>
          <a:prstGeom prst="roundRect">
            <a:avLst/>
          </a:prstGeom>
          <a:solidFill>
            <a:srgbClr val="281804"/>
          </a:solidFill>
          <a:ln w="1270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  <a:defRPr sz="950" b="1">
                <a:solidFill>
                  <a:srgbClr val="FFC542"/>
                </a:solidFill>
                <a:latin typeface="Inter"/>
              </a:defRPr>
            </a:pPr>
            <a:r>
              <a:t>🧪  USABILITY INSIGHT</a:t>
            </a:r>
          </a:p>
          <a:p>
            <a:pPr>
              <a:lnSpc>
                <a:spcPct val="12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Instant SOS (v1) caused anxiety. The 3-second abort window reduced false alarm fear by 100% in re-testing.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12 of 15  ·  Design Jury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FF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FC542"/>
                </a:solidFill>
                <a:latin typeface="Inter"/>
              </a:defRPr>
            </a:pPr>
            <a:r>
              <a:t>PHASE 4 – PROTOTYPE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Screen 4: Hazard Report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Community-Powered Safety — Map Every Danger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8686800" cy="822960"/>
          </a:xfrm>
          <a:prstGeom prst="roundRect">
            <a:avLst/>
          </a:prstGeom>
          <a:solidFill>
            <a:srgbClr val="281804"/>
          </a:solidFill>
          <a:ln w="1524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82296"/>
          <a:lstStyle/>
          <a:p>
            <a:pPr algn="ctr">
              <a:spcAft>
                <a:spcPts val="400"/>
              </a:spcAft>
              <a:defRPr sz="950" b="1">
                <a:solidFill>
                  <a:srgbClr val="FFC542"/>
                </a:solidFill>
                <a:latin typeface="Inter"/>
              </a:defRPr>
            </a:pPr>
            <a:r>
              <a:t>📍  WHAT THIS SCREEN DOES</a:t>
            </a:r>
          </a:p>
          <a:p>
            <a:pPr>
              <a:lnSpc>
                <a:spcPct val="130000"/>
              </a:lnSpc>
              <a:defRPr sz="1000">
                <a:solidFill>
                  <a:srgbClr val="C6CEDF"/>
                </a:solidFill>
                <a:latin typeface="Inter"/>
              </a:defRPr>
            </a:pPr>
            <a:r>
              <a:t>A slide-up bottom sheet modal during navigation. Users pick a hazard category — the pin appears instantly on the live map, visible to all SafeRoute users nearby.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87168"/>
            <a:ext cx="347472" cy="347472"/>
          </a:xfrm>
          <a:prstGeom prst="roundRect">
            <a:avLst/>
          </a:prstGeom>
          <a:solidFill>
            <a:srgbClr val="231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404872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4 Hazard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670048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Dim Lighting · Blocked Path · Suspicious Crowd · Unsafe Road — selected in one tap.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80944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255263"/>
            <a:ext cx="347472" cy="347472"/>
          </a:xfrm>
          <a:prstGeom prst="roundRect">
            <a:avLst/>
          </a:prstGeom>
          <a:solidFill>
            <a:srgbClr val="0B1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172968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Instant Map 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38144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After Submit, an amber ⚠ pin appears on the live map at the reported GPS coordinate immediately.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49039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023359"/>
            <a:ext cx="347472" cy="347472"/>
          </a:xfrm>
          <a:prstGeom prst="round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941063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Community-Powered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4206240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Every report improves the safety algorithm — future routes automatically avoid newly-pinned hazards.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517136"/>
            <a:ext cx="8686800" cy="7315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791456"/>
            <a:ext cx="347472" cy="347472"/>
          </a:xfrm>
          <a:prstGeom prst="roundRect">
            <a:avLst/>
          </a:prstGeom>
          <a:solidFill>
            <a:srgbClr val="13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lIns="0"/>
          <a:lstStyle/>
          <a:p>
            <a:pPr algn="ctr">
              <a:defRPr sz="1500"/>
            </a:pPr>
            <a: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709160"/>
            <a:ext cx="8211311" cy="23774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Inter"/>
              </a:defRPr>
            </a:pPr>
            <a:r>
              <a:t>Bottom Sheet UX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974336"/>
            <a:ext cx="8211311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B7A99"/>
                </a:solidFill>
                <a:latin typeface="Inter"/>
              </a:defRPr>
            </a:pPr>
            <a:r>
              <a:t>Slides up over the map — user never loses context of where they are while reporting the hazard.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86400"/>
            <a:ext cx="8686800" cy="731520"/>
          </a:xfrm>
          <a:prstGeom prst="roundRect">
            <a:avLst/>
          </a:prstGeom>
          <a:solidFill>
            <a:srgbClr val="1C21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300"/>
              </a:spcAft>
              <a:defRPr sz="950" b="1">
                <a:solidFill>
                  <a:srgbClr val="FFFFFF"/>
                </a:solidFill>
                <a:latin typeface="Inter"/>
              </a:defRPr>
            </a:pPr>
            <a:r>
              <a:t>🔄  The Community Safety Flywheel</a:t>
            </a:r>
          </a:p>
          <a:p>
            <a:pPr>
              <a:lnSpc>
                <a:spcPct val="12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More users → More reports → Better data → Smarter routes → More users feel safe → More users join. Like Waze for pedestrian night safety.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37160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56064" y="142646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88036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Hazard Report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5760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800" b="0" i="0">
                <a:solidFill>
                  <a:srgbClr val="6B7A99"/>
                </a:solidFill>
                <a:latin typeface="Inter"/>
              </a:defRPr>
            </a:pPr>
            <a:r>
              <a:t>Hazard Report Modal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13 of 15  ·  Design Jury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5B8DEF"/>
                </a:solidFill>
                <a:latin typeface="Inter"/>
              </a:defRPr>
            </a:pPr>
            <a:r>
              <a:t>PHASE 5 – TEST &amp; ITERATE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Usability Testing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Test → Feedback → Iterate → Retest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27632"/>
            <a:ext cx="2606040" cy="1188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8B5CF6"/>
                </a:solidFill>
                <a:latin typeface="Inter"/>
              </a:defRPr>
            </a:pPr>
            <a:r>
              <a:t>8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Test participants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27632"/>
            <a:ext cx="2606040" cy="1188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5B8DEF"/>
                </a:solidFill>
                <a:latin typeface="Inter"/>
              </a:defRPr>
            </a:pPr>
            <a:r>
              <a:t>3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Rounds of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27632"/>
            <a:ext cx="2606040" cy="1188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00D26A"/>
                </a:solidFill>
                <a:latin typeface="Inter"/>
              </a:defRPr>
            </a:pPr>
            <a:r>
              <a:t>100%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Task completion</a:t>
            </a:r>
            <a:br/>
            <a:r>
              <a:t>after iteration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627632"/>
            <a:ext cx="2606040" cy="1188720"/>
          </a:xfrm>
          <a:prstGeom prst="roundRect">
            <a:avLst/>
          </a:prstGeom>
          <a:solidFill>
            <a:srgbClr val="1C2130"/>
          </a:solidFill>
          <a:ln w="1524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3400" b="1">
                <a:solidFill>
                  <a:srgbClr val="FFC542"/>
                </a:solidFill>
                <a:latin typeface="Inter"/>
              </a:defRPr>
            </a:pPr>
            <a:r>
              <a:t>4.7★</a:t>
            </a:r>
          </a:p>
          <a:p>
            <a:pPr algn="ctr">
              <a:lnSpc>
                <a:spcPct val="120000"/>
              </a:lnSpc>
              <a:defRPr sz="950">
                <a:solidFill>
                  <a:srgbClr val="6B7A99"/>
                </a:solidFill>
                <a:latin typeface="Inter"/>
              </a:defRPr>
            </a:pPr>
            <a:r>
              <a:t>Avg satisfaction</a:t>
            </a:r>
            <a:br/>
            <a:r>
              <a:t>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44368"/>
            <a:ext cx="2468880" cy="292608"/>
          </a:xfrm>
          <a:prstGeom prst="roundRect">
            <a:avLst/>
          </a:prstGeom>
          <a:solidFill>
            <a:srgbClr val="252D3A"/>
          </a:solidFill>
          <a:ln w="1016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999232"/>
            <a:ext cx="23225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FF3D5A"/>
                </a:solidFill>
                <a:latin typeface="Inter"/>
              </a:defRPr>
            </a:pPr>
            <a:r>
              <a:t>Pain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26664" y="2944368"/>
            <a:ext cx="2468880" cy="292608"/>
          </a:xfrm>
          <a:prstGeom prst="roundRect">
            <a:avLst/>
          </a:prstGeom>
          <a:solidFill>
            <a:srgbClr val="252D3A"/>
          </a:solidFill>
          <a:ln w="1016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2999232"/>
            <a:ext cx="23225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FFC542"/>
                </a:solidFill>
                <a:latin typeface="Inter"/>
              </a:defRPr>
            </a:pPr>
            <a:r>
              <a:t>Finding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0408" y="2944368"/>
            <a:ext cx="3017520" cy="292608"/>
          </a:xfrm>
          <a:prstGeom prst="roundRect">
            <a:avLst/>
          </a:prstGeom>
          <a:solidFill>
            <a:srgbClr val="252D3A"/>
          </a:solidFill>
          <a:ln w="1016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999232"/>
            <a:ext cx="28712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5B8DEF"/>
                </a:solidFill>
                <a:latin typeface="Inter"/>
              </a:defRPr>
            </a:pPr>
            <a:r>
              <a:t>Design Iteration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22792" y="2944368"/>
            <a:ext cx="2468880" cy="292608"/>
          </a:xfrm>
          <a:prstGeom prst="roundRect">
            <a:avLst/>
          </a:prstGeom>
          <a:solidFill>
            <a:srgbClr val="252D3A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95944" y="2999232"/>
            <a:ext cx="23225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900" b="1" i="0">
                <a:solidFill>
                  <a:srgbClr val="00D26A"/>
                </a:solidFill>
                <a:latin typeface="Inter"/>
              </a:defRPr>
            </a:pPr>
            <a:r>
              <a:t>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Accidental SOS trigger</a:t>
            </a:r>
            <a:br/>
            <a:r>
              <a:t>fear during fast walking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26664" y="3291840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7 of 8 testers worried about</a:t>
            </a:r>
            <a:br/>
            <a:r>
              <a:t>false alarm dispatch.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0408" y="3291840"/>
            <a:ext cx="301752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Added 3s countdown with large</a:t>
            </a:r>
            <a:br/>
            <a:r>
              <a:t>"Hold to Cancel" abort button.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22792" y="3291840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1">
                <a:solidFill>
                  <a:srgbClr val="00D26A"/>
                </a:solidFill>
                <a:latin typeface="Inter"/>
              </a:defRPr>
            </a:pPr>
            <a:r>
              <a:t>False alarm fear: 100% → 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15968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"38% safety score" not</a:t>
            </a:r>
            <a:br/>
            <a:r>
              <a:t>understood by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26664" y="4315968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6 of 8 wanted specific reasons,</a:t>
            </a:r>
            <a:br/>
            <a:r>
              <a:t>not just a percentage number.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0408" y="4315968"/>
            <a:ext cx="301752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Added ⚠ Dim Alley hazard pin</a:t>
            </a:r>
            <a:br/>
            <a:r>
              <a:t>labels on the unsafe route.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22792" y="4315968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1">
                <a:solidFill>
                  <a:srgbClr val="00D26A"/>
                </a:solidFill>
                <a:latin typeface="Inter"/>
              </a:defRPr>
            </a:pPr>
            <a:r>
              <a:t>Route clarity: 40% → 95%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40096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Status bar clipped on</a:t>
            </a:r>
            <a:br/>
            <a:r>
              <a:t>small screens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26664" y="5340096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Phone frame cut off the</a:t>
            </a:r>
            <a:br/>
            <a:r>
              <a:t>9:41 status bar at top.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50408" y="5340096"/>
            <a:ext cx="301752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0">
                <a:solidFill>
                  <a:srgbClr val="C6CEDF"/>
                </a:solidFill>
                <a:latin typeface="Inter"/>
              </a:defRPr>
            </a:pPr>
            <a:r>
              <a:t>CSS min() responsive phone + 100vh</a:t>
            </a:r>
            <a:br/>
            <a:r>
              <a:t>locked container in prototype.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22792" y="5340096"/>
            <a:ext cx="2468880" cy="96012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lnSpc>
                <a:spcPct val="120000"/>
              </a:lnSpc>
              <a:defRPr sz="950" b="1">
                <a:solidFill>
                  <a:srgbClr val="00D26A"/>
                </a:solidFill>
                <a:latin typeface="Inter"/>
              </a:defRPr>
            </a:pPr>
            <a:r>
              <a:t>Status bar: always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14 of 15  ·  Design Jury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36576" cy="841248"/>
          </a:xfrm>
          <a:prstGeom prst="rect">
            <a:avLst/>
          </a:prstGeom>
          <a:solidFill>
            <a:srgbClr val="00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D26A"/>
                </a:solidFill>
                <a:latin typeface="Inter"/>
              </a:defRPr>
            </a:pPr>
            <a:r>
              <a:t>CONCLUSION</a:t>
            </a:r>
          </a:p>
          <a:p>
            <a:pPr>
              <a:spcAft>
                <a:spcPts val="200"/>
              </a:spcAft>
              <a:defRPr sz="2300" b="1">
                <a:solidFill>
                  <a:srgbClr val="FFFFFF"/>
                </a:solidFill>
                <a:latin typeface="Inter"/>
              </a:defRPr>
            </a:pPr>
            <a:r>
              <a:t>SafeRoute — Delivered</a:t>
            </a:r>
          </a:p>
          <a:p>
            <a:pPr>
              <a:defRPr sz="1100">
                <a:solidFill>
                  <a:srgbClr val="6B7A99"/>
                </a:solidFill>
                <a:latin typeface="Inter"/>
              </a:defRPr>
            </a:pPr>
            <a:r>
              <a:t>From Research to Working Prototype in 5 HCD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4251960" cy="80467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5B8DEF"/>
                </a:solidFill>
                <a:latin typeface="Inter"/>
              </a:defRPr>
            </a:pPr>
            <a:r>
              <a:t>01 Discover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Speed-bias in nav apps. 73% women anxious at night. 85% prefer longer lit routes.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4251960" cy="80467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8B5CF6"/>
                </a:solidFill>
                <a:latin typeface="Inter"/>
              </a:defRPr>
            </a:pPr>
            <a:r>
              <a:t>02 Define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Elena persona, Empathy Map, User Journey. Fear → Relief arc clearly mapped.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4251960" cy="80467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FFC542"/>
                </a:solidFill>
                <a:latin typeface="Inter"/>
              </a:defRPr>
            </a:pPr>
            <a:r>
              <a:t>03 Ideate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6 Crazy 8 features + 3 HMW statements directly mapped to built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286000"/>
            <a:ext cx="4251960" cy="80467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00D26A"/>
                </a:solidFill>
                <a:latin typeface="Inter"/>
              </a:defRPr>
            </a:pPr>
            <a:r>
              <a:t>04 Design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Dark design system, 4-screen IA, design tokens, component library.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00400"/>
            <a:ext cx="4251960" cy="804672"/>
          </a:xfrm>
          <a:prstGeom prst="roundRect">
            <a:avLst/>
          </a:prstGeom>
          <a:solidFill>
            <a:srgbClr val="1C2130"/>
          </a:solidFill>
          <a:ln w="10160">
            <a:solidFill>
              <a:srgbClr val="FF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FF3D5A"/>
                </a:solidFill>
                <a:latin typeface="Inter"/>
              </a:defRPr>
            </a:pPr>
            <a:r>
              <a:t>05 Test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3 rounds, 8 users. SOS abort + hazard pins from testing. 100% completion.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200400"/>
            <a:ext cx="4251960" cy="804672"/>
          </a:xfrm>
          <a:prstGeom prst="roundRect">
            <a:avLst/>
          </a:prstGeom>
          <a:solidFill>
            <a:srgbClr val="001A0A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spcAft>
                <a:spcPts val="200"/>
              </a:spcAft>
              <a:defRPr sz="1050" b="1">
                <a:solidFill>
                  <a:srgbClr val="00D26A"/>
                </a:solidFill>
                <a:latin typeface="Inter"/>
              </a:defRPr>
            </a:pPr>
            <a:r>
              <a:t>✦ Live Prototype</a:t>
            </a:r>
          </a:p>
          <a:p>
            <a:pPr>
              <a:lnSpc>
                <a:spcPct val="110000"/>
              </a:lnSpc>
              <a:defRPr sz="900">
                <a:solidFill>
                  <a:srgbClr val="6B7A99"/>
                </a:solidFill>
                <a:latin typeface="Inter"/>
              </a:defRPr>
            </a:pPr>
            <a:r>
              <a:t>Real Leaflet map · Haversine distances · All 4 screens · SOS flow · Hazard reports · Fully functional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14800"/>
            <a:ext cx="8778240" cy="2194560"/>
          </a:xfrm>
          <a:prstGeom prst="roundRect">
            <a:avLst/>
          </a:prstGeom>
          <a:solidFill>
            <a:srgbClr val="1C2130"/>
          </a:solidFill>
          <a:ln w="762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B7A99"/>
                </a:solidFill>
                <a:latin typeface="Inter"/>
              </a:defRPr>
            </a:pPr>
            <a:r>
              <a:t>WHAT WAS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98848"/>
            <a:ext cx="4114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🗺  Real interactive Leaflet map (react-leaflet + CartoDB)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📏  Actual route distances via Haversine formula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🛡  Safe vs unsafe route comparison with safety %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🚨  Full SOS countdown → contact dispatch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498848"/>
            <a:ext cx="4114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📍  Community hazard report → live map pin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📤  Location sharing with toast notifications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🌙  4-screen native app with dark UI system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950">
                <a:solidFill>
                  <a:srgbClr val="C6CEDF"/>
                </a:solidFill>
                <a:latin typeface="Inter"/>
              </a:defRPr>
            </a:pPr>
            <a:r>
              <a:t>✓  📱  Full phone frame with status bar + home bar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371600"/>
            <a:ext cx="2103120" cy="4297680"/>
          </a:xfrm>
          <a:prstGeom prst="roundRect">
            <a:avLst/>
          </a:prstGeom>
          <a:solidFill>
            <a:srgbClr val="131720"/>
          </a:solidFill>
          <a:ln w="25400">
            <a:solidFill>
              <a:srgbClr val="2A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10344" y="1426464"/>
            <a:ext cx="1993391" cy="4187952"/>
          </a:xfrm>
          <a:prstGeom prst="roundRect">
            <a:avLst/>
          </a:prstGeom>
          <a:solidFill>
            <a:srgbClr val="0B0E14"/>
          </a:solidFill>
          <a:ln w="19050">
            <a:solidFill>
              <a:srgbClr val="FFC5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2880360"/>
            <a:ext cx="1920239" cy="12801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lnSpc>
                <a:spcPct val="120000"/>
              </a:lnSpc>
              <a:defRPr sz="800" b="1" i="0">
                <a:solidFill>
                  <a:srgbClr val="FFC542"/>
                </a:solidFill>
                <a:latin typeface="Inter"/>
              </a:defRPr>
            </a:pPr>
            <a:r>
              <a:t>PLACEHOLDER</a:t>
            </a:r>
          </a:p>
          <a:p>
            <a:pPr algn="ctr">
              <a:lnSpc>
                <a:spcPct val="120000"/>
              </a:lnSpc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Route Selection Screen</a:t>
            </a:r>
          </a:p>
          <a:p>
            <a:pPr algn="ctr">
              <a:lnSpc>
                <a:spcPct val="120000"/>
              </a:lnSpc>
              <a:defRPr sz="850" b="0" i="0">
                <a:solidFill>
                  <a:srgbClr val="6B7A99"/>
                </a:solidFill>
                <a:latin typeface="Inter"/>
              </a:defRPr>
            </a:pPr>
            <a:r>
              <a:t>Insert screenshot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5623560"/>
            <a:ext cx="2103120" cy="685800"/>
          </a:xfrm>
          <a:prstGeom prst="roundRect">
            <a:avLst/>
          </a:prstGeom>
          <a:solidFill>
            <a:srgbClr val="001A0A"/>
          </a:solidFill>
          <a:ln w="1270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56875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 b="1" i="0">
                <a:solidFill>
                  <a:srgbClr val="00D26A"/>
                </a:solidFill>
                <a:latin typeface="Inter"/>
              </a:defRPr>
            </a:pPr>
            <a:r>
              <a:t>Tab 3</a:t>
            </a:r>
          </a:p>
          <a:p>
            <a:pPr algn="ctr">
              <a:lnSpc>
                <a:spcPct val="120000"/>
              </a:lnSpc>
              <a:defRPr sz="900" b="0" i="0">
                <a:solidFill>
                  <a:srgbClr val="C6CEDF"/>
                </a:solidFill>
                <a:latin typeface="Inter"/>
              </a:defRPr>
            </a:pPr>
            <a:r>
              <a:t>Live Prototype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83112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00">
                <a:solidFill>
                  <a:srgbClr val="6B7A99"/>
                </a:solidFill>
                <a:latin typeface="Inter"/>
              </a:defRPr>
            </a:pPr>
            <a:r>
              <a:t>SafeRoute HCD Case Study  ·  Slide 15 of 15  ·  Design Jury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55664"/>
            <a:ext cx="11183112" cy="9144"/>
          </a:xfrm>
          <a:prstGeom prst="rect">
            <a:avLst/>
          </a:prstGeom>
          <a:solidFill>
            <a:srgbClr val="2A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